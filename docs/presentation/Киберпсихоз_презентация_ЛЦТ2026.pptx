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65" r:id="rId8"/>
    <p:sldId id="366" r:id="rId9"/>
    <p:sldId id="362" r:id="rId10"/>
    <p:sldId id="364" r:id="rId11"/>
    <p:sldId id="375" r:id="rId12"/>
    <p:sldId id="268" r:id="rId25"/>
    <p:sldId id="371" r:id="rId17"/>
    <p:sldId id="267" r:id="rId26"/>
    <p:sldId id="377" r:id="rId46"/>
    <p:sldId id="270" r:id="rId28"/>
    <p:sldId id="269" r:id="rId27"/>
    <p:sldId id="373" r:id="rId15"/>
    <p:sldId id="376" r:id="rId45"/>
    <p:sldId id="263" r:id="rId22"/>
    <p:sldId id="266" r:id="rId23"/>
    <p:sldId id="262" r:id="rId21"/>
    <p:sldId id="374" r:id="rId18"/>
    <p:sldId id="372" r:id="rId14"/>
    <p:sldId id="370" r:id="rId16"/>
    <p:sldId id="369" r:id="rId13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20.xml"/><Relationship Id="rId14" Type="http://schemas.openxmlformats.org/officeDocument/2006/relationships/slide" Target="slides/slide18.xml"/><Relationship Id="rId15" Type="http://schemas.openxmlformats.org/officeDocument/2006/relationships/slide" Target="slides/slide12.xml"/><Relationship Id="rId16" Type="http://schemas.openxmlformats.org/officeDocument/2006/relationships/slide" Target="slides/slide19.xml"/><Relationship Id="rId17" Type="http://schemas.openxmlformats.org/officeDocument/2006/relationships/slide" Target="slides/slide7.xml"/><Relationship Id="rId18" Type="http://schemas.openxmlformats.org/officeDocument/2006/relationships/slide" Target="slides/slide17.xml"/><Relationship Id="rId21" Type="http://schemas.openxmlformats.org/officeDocument/2006/relationships/slide" Target="slides/slide16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5" Type="http://schemas.openxmlformats.org/officeDocument/2006/relationships/slide" Target="slides/slide6.xml"/><Relationship Id="rId26" Type="http://schemas.openxmlformats.org/officeDocument/2006/relationships/slide" Target="slides/slide8.xml"/><Relationship Id="rId27" Type="http://schemas.openxmlformats.org/officeDocument/2006/relationships/slide" Target="slides/slide11.xml"/><Relationship Id="rId28" Type="http://schemas.openxmlformats.org/officeDocument/2006/relationships/slide" Target="slides/slide10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13.xml"/><Relationship Id="rId4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_____Microsoft_Excel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____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1688300241682354E-2"/>
          <c:y val="0.12693525390367644"/>
          <c:w val="0.92608602339057544"/>
          <c:h val="0.6674714227166116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Найдено нарушений</c:v>
                </c:pt>
              </c:strCache>
            </c:strRef>
          </c:tx>
          <c:spPr>
            <a:solidFill>
              <a:schemeClr val="accent1"/>
            </a:solidFill>
            <a:ln w="63500"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Укладка: 100</c:v>
                </c:pt>
                <c:pt idx="1">
                  <c:v>Предметы: 40</c:v>
                </c:pt>
                <c:pt idx="2">
                  <c:v>Ось: 22</c:v>
                </c:pt>
                <c:pt idx="3">
                  <c:v>Область интереса: 20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100</c:v>
                </c:pt>
                <c:pt idx="1">
                  <c:v>40</c:v>
                </c:pt>
                <c:pt idx="2">
                  <c:v>22</c:v>
                </c:pt>
                <c:pt idx="3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86-41F6-8A85-7879D9C60F88}"/>
            </c:ext>
          </c:extLst>
        </c:ser>
        <c:dLbls>
          <c:numFmt formatCode="0" sourceLinked="0"/>
          <c:txPr>
            <a:bodyPr/>
            <a:lstStyle/>
            <a:p>
              <a:pPr>
                <a:defRPr sz="14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0"/>
        <c:axId val="1688540351"/>
        <c:axId val="1173587135"/>
      </c:barChart>
      <c:catAx>
        <c:axId val="168854035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15.0"/>
          <c:min val="0.0"/>
        </c:scaling>
        <c:delete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1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53261129492993"/>
          <c:y val="0.12693525390367644"/>
          <c:w val="0.86424170750053264"/>
          <c:h val="0.66747142271661164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chemeClr val="accent2"/>
            </a:solidFill>
            <a:ln w="63500">
              <a:solidFill>
                <a:schemeClr val="accent2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92C0-E743-BC6B-AB142BB8326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35E-4C45-8CA2-C11611997942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5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35E-4C45-8CA2-C11611997942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35E-4C45-8CA2-C11611997942}"/>
              </c:ext>
            </c:extLst>
          </c:dPt>
          <c:cat>
            <c:strRef>
              <c:f>Sheet1!$A$2:$A$5</c:f>
              <c:strCache>
                <c:ptCount val="4"/>
                <c:pt idx="0">
                  <c:v>Бедро</c:v>
                </c:pt>
                <c:pt idx="1">
                  <c:v>ROI бедра</c:v>
                </c:pt>
                <c:pt idx="2">
                  <c:v>Позвоночник</c:v>
                </c:pt>
                <c:pt idx="3">
                  <c:v>Предметы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0.73</c:v>
                </c:pt>
                <c:pt idx="1">
                  <c:v>0.79</c:v>
                </c:pt>
                <c:pt idx="2">
                  <c:v>0.86</c:v>
                </c:pt>
                <c:pt idx="3">
                  <c:v>0.88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35E-4C45-8CA2-C11611997942}"/>
            </c:ext>
          </c:extLst>
        </c:ser>
        <c:dLbls>
          <c:numFmt formatCode="0.00" sourceLinked="0"/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688540351"/>
        <c:axId val="1173587135"/>
      </c:barChart>
      <c:catAx>
        <c:axId val="16885403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173587135"/>
        <c:crosses val="autoZero"/>
        <c:auto val="1"/>
        <c:lblAlgn val="ctr"/>
        <c:lblOffset val="100"/>
        <c:noMultiLvlLbl val="0"/>
      </c:catAx>
      <c:valAx>
        <c:axId val="1173587135"/>
        <c:scaling>
          <c:orientation val="minMax"/>
          <c:max val="1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alpha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688540351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tx1"/>
          </a:solidFill>
        </a:defRPr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/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/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  <p:txBody>
          <a:bodyPr/>
          <a:p/>
        </p:txBody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/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  <p:txBody>
          <a:bodyPr/>
          <a:p/>
        </p:txBody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  <p:txBody>
          <a:bodyPr/>
          <a:p/>
        </p:txBody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5.jpg"/><Relationship Id="rId5" Type="http://schemas.openxmlformats.org/officeDocument/2006/relationships/image" Target="../media/image6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4.png"/><Relationship Id="rId3" Type="http://schemas.openxmlformats.org/officeDocument/2006/relationships/image" Target="../media/image32.png"/><Relationship Id="rId4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4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.png"/><Relationship Id="rId3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30.png"/><Relationship Id="rId3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t>КИБЕРПСИХОЗ</a:t>
            </a:r>
            <a:endParaRPr lang="ru-RU" sz="4800" dirty="0"/>
          </a:p>
        </p:txBody>
      </p:sp>
      <p:pic>
        <p:nvPicPr>
          <p:cNvPr id="4" name="Рисунок 3" descr="dit_logo.png"/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>
            <a:fillRect/>
          </a:stretch>
        </p:blipFill>
        <p:spPr>
          <a:xfrm>
            <a:off x="305186" y="438060"/>
            <a:ext cx="3310803" cy="866071"/>
          </a:xfrm>
        </p:spPr>
      </p:pic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/>
            <a:r>
              <a:t>Задача 4. Сервис искусственного интеллекта по оценке</a:t>
            </a:r>
            <a:endParaRPr lang="ru-RU" dirty="0"/>
          </a:p>
          <a:p>
            <a:pPr indent="268288"/>
            <a:r>
              <a:t>качества исследований плотности костей человека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Объяснимые решения: вывод опирается на измерения в мм и градусах, видимые на разметке. Врач подтверждает или исправляет результат, выгрузка в DICOM SR. Работает офлайн, ~0,5 с на снимок на CPU.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62985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Семененко Лилия Максимовна, DevOps-инженер, бэкенд и ML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2 человека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участник: Витютнев Олег Вячеславович, full-stack, фронтенд, дизайн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ru-RU" i="1" dirty="0">
                <a:solidFill>
                  <a:schemeClr val="tx1"/>
                </a:solidFill>
              </a:rPr>
              <a:t>учёба: РТУ МИРЭА; работа: ООО «ЭйТи Консалтинг», ЦИТ Госфинансы АО «Гознак»</a:t>
            </a: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Москва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sz="2200" b="1">
                <a:solidFill>
                  <a:srgbClr val="520977"/>
                </a:solidFill>
              </a:rPr>
              <a:t>О КОМАНДЕ И РЕШЕНИИ</a:t>
            </a:r>
            <a:endParaRPr lang="ru-RU" sz="2400" dirty="0">
              <a:solidFill>
                <a:schemeClr val="accent5"/>
              </a:solidFill>
              <a:latin typeface="+mn-lt"/>
            </a:endParaRP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45565" cy="89003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ИИ-помощник рентгенолаборанта: проверяет снимок денситометрии позвоночника или бедра сразу после исследования, выдаёт вердикт, тип нарушения, заключение с разметкой и подсказывает, что исправить.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8</a:t>
            </a:fld>
            <a:endParaRPr lang="ru-RU" sz="1200" dirty="0">
              <a:solidFill>
                <a:schemeClr val="accent5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5833" y="1250000"/>
            <a:ext cx="5700000" cy="1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400" b="1">
                <a:solidFill>
                  <a:srgbClr val="520977"/>
                </a:solidFill>
              </a:rPr>
              <a:t>КИБЕРПСИХОЗ</a:t>
            </a:r>
          </a:p>
          <a:p>
            <a:pPr>
              <a:spcBef>
                <a:spcPts val="600"/>
              </a:spcBef>
            </a:pPr>
            <a:r>
              <a:rPr sz="1800">
                <a:solidFill>
                  <a:srgbClr val="FF0053"/>
                </a:solidFill>
              </a:rPr>
              <a:t>ИИ-контроль качества денситометрии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615230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6324586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Full-stack, фронтенд, дизайн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Telegram: @rTokin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+7 977 577-15-30</a:t>
            </a:r>
          </a:p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100">
                <a:solidFill>
                  <a:schemeClr val="tx1"/>
                </a:solidFill>
              </a:rPr>
              <a:t>РТУ МИРЭА; ЦИТ Госфинансы АО «Гознак»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632458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Олег Витютнев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84698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" name="Рисунок 1" descr="lilia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4"/>
          <a:srcRect/>
          <a:stretch>
            <a:fillRect/>
          </a:stretch>
        </p:blipFill>
        <p:spPr>
          <a:xfrm>
            <a:off x="4082305" y="1816054"/>
            <a:ext cx="1722566" cy="1552901"/>
          </a:xfrm>
        </p:spPr>
      </p:pic>
      <p:pic>
        <p:nvPicPr>
          <p:cNvPr id="3" name="Рисунок 2" descr="oleg.jpg"/>
          <p:cNvPicPr>
            <a:picLocks noGrp="1" noChangeAspect="1"/>
          </p:cNvPicPr>
          <p:nvPr>
            <p:ph type="pic" sz="quarter" idx="4294967295"/>
          </p:nvPr>
        </p:nvPicPr>
        <p:blipFill>
          <a:blip r:embed="rId5"/>
          <a:srcRect/>
          <a:stretch>
            <a:fillRect/>
          </a:stretch>
        </p:blipFill>
        <p:spPr>
          <a:xfrm>
            <a:off x="6387375" y="1826554"/>
            <a:ext cx="1722566" cy="1542401"/>
          </a:xfrm>
        </p:spPr>
      </p:pic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9862734" cy="376138"/>
          </a:xfrm>
        </p:spPr>
        <p:txBody>
          <a:bodyPr/>
          <a:lstStyle/>
          <a:p>
            <a:r>
              <a:t>УЧАСТНИКИ КОМАНДЫ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019268" y="4250028"/>
            <a:ext cx="1894354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Капитан; DevOps, бэкенд, ML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Telegram: @lil_ya_7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+7 962 920-78-97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100" dirty="0">
                <a:solidFill>
                  <a:schemeClr val="tx1"/>
                </a:solidFill>
              </a:rPr>
              <a:t>РТУ МИРЭА; ООО «ЭйТи Консалтинг», мл. DevOps-инженер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401926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Лилия Семененко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849" y="449787"/>
            <a:ext cx="9862734" cy="376138"/>
          </a:xfrm>
        </p:spPr>
        <p:txBody>
          <a:bodyPr/>
          <a:lstStyle/>
          <a:p>
            <a:r>
              <a:t>ИСТОРИЯ КОМАНДЫ</a:t>
            </a:r>
            <a:endParaRPr lang="ru-RU" dirty="0">
              <a:latin typeface="+mn-lt"/>
            </a:endParaRP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4425822" cy="9342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Учимся в РТУ МИРЭА и работаем в ИТ. Лилия — DevOps, бэкенд и ML, Олег — full-stack, фронтенд и дизайн. Весь цикл сделали вдвоём.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Данных мало и они шумные: 499 файлов оказались 252 уникальными снимками, у редких нарушений 6–7 примеров. Помогли групповая кросс-валидация и замороженные бэкбоны вместо дообучения.</a:t>
            </a:r>
            <a:endParaRPr lang="en-US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В DICOM нет PixelSpacing, пиксель анизотропный (1,05×0,6 мм): наклон 5° читался как ~8,7°. Привели снимки к сетке 1 мм, сторону бедра определяем по пикселям.</a:t>
            </a:r>
            <a:br>
              <a:rPr lang="en-US" dirty="0">
                <a:solidFill>
                  <a:schemeClr val="tx1"/>
                </a:solidFill>
              </a:rPr>
            </a:b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49455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Медицина плюс компьютерное зрение с прямым эффектом: брак снимка ловится, пока пациент ещё в кабинете. Хотелось сделать объяснимый ИИ.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Вход: DICOM-файл, папка или ZIP; нормализация к сетке 1 мм</a:t>
            </a:r>
          </a:p>
          <a:p>
            <a:r>
              <a:rPr lang="ru-RU" sz="1400" dirty="0">
                <a:solidFill>
                  <a:schemeClr val="tx1"/>
                </a:solidFill>
              </a:rPr>
              <a:t>Область и сторона по пикселям: HOG + логистическая регрессия, точность 100%</a:t>
            </a:r>
          </a:p>
          <a:p>
            <a:r>
              <a:rPr lang="ru-RU" sz="1400" dirty="0">
                <a:solidFill>
                  <a:schemeClr val="tx1"/>
                </a:solidFill>
              </a:rPr>
              <a:t>Качество: геометрия в мм и градусах + признаки EfficientNet-B3, ConvNeXt-S, DINOv2 → ансамбль логистических голов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Выход: вердикт, вероятность, тип нарушения, заключение, разметка, XLSX/CSV и DICOM SR</a:t>
            </a:r>
          </a:p>
          <a:p>
            <a:r>
              <a:rPr lang="ru-RU" sz="1400" dirty="0">
                <a:solidFill>
                  <a:schemeClr val="tx1"/>
                </a:solidFill>
              </a:rPr>
              <a:t>FastAPI + React в Docker, без интернета, ~0,5 с на снимок на CPU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Помощник рентгенолаборанта: брак виден, пока пациент ещё в кабинете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Подсказка, что исправить, и финальное решение за специалистом</a:t>
            </a:r>
          </a:p>
          <a:p>
            <a:r>
              <a:rPr lang="ru-RU" sz="1400" dirty="0">
                <a:solidFill>
                  <a:schemeClr val="tx1"/>
                </a:solidFill>
              </a:rPr>
              <a:t>Меньше повторных визитов и недостоверных измерений плотности кости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Установка в закрытом контуре медорганизации, без облака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Пакетный аудит качества архива исследований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/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/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/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/>
          <p:nvPr/>
        </p:nvSpPr>
        <p:spPr>
          <a:xfrm>
            <a:off x="346075" y="324562"/>
            <a:ext cx="443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/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/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16304" y="365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Ошибки укладки, наклон оси, посторонние предметы и неверная область интереса искажают измерение плотности кости. Брак замечают, когда пациент уже ушёл.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9890" y="365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Ручная проверка снимка врачом-рентгенологом после исследования: субъективно, требует времени, при браке нужен повторный визит.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405081" y="3650000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ИИ-сервис проверяет снимок за ~0,5 с прямо в кабинете: вердикт, тип нарушения, разметка и подсказка, что исправить.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>
              <a:ext uri="{FF2B5EF4-FFF2-40B4-BE49-F238E27FC236}">
                <a16:creationId xmlns:a16="http://schemas.microsoft.com/office/drawing/2014/main" id="{567FA9A9-3099-4088-80A0-9601CEE4D42E}"/>
              </a:ext>
            </a:extLst>
          </p:cNvPr>
          <p:cNvCxnSpPr>
            <a:cxnSpLocks/>
          </p:cNvCxnSpPr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Google Shape;2829;p94">
            <a:extLst>
              <a:ext uri="{FF2B5EF4-FFF2-40B4-BE49-F238E27FC236}">
                <a16:creationId xmlns:a16="http://schemas.microsoft.com/office/drawing/2014/main" id="{4C77747E-B18D-4A2B-BA4F-6DC51DACDF20}"/>
              </a:ext>
            </a:extLst>
          </p:cNvPr>
          <p:cNvGrpSpPr/>
          <p:nvPr/>
        </p:nvGrpSpPr>
        <p:grpSpPr>
          <a:xfrm>
            <a:off x="1899087" y="1753233"/>
            <a:ext cx="738531" cy="687909"/>
            <a:chOff x="3385734" y="2233242"/>
            <a:chExt cx="340504" cy="319542"/>
          </a:xfrm>
        </p:grpSpPr>
        <p:sp>
          <p:nvSpPr>
            <p:cNvPr id="63" name="Google Shape;2830;p94">
              <a:extLst>
                <a:ext uri="{FF2B5EF4-FFF2-40B4-BE49-F238E27FC236}">
                  <a16:creationId xmlns:a16="http://schemas.microsoft.com/office/drawing/2014/main" id="{F538E3A9-5C7B-406B-80D1-B9EEBFF33FF0}"/>
                </a:ext>
              </a:extLst>
            </p:cNvPr>
            <p:cNvSpPr/>
            <p:nvPr/>
          </p:nvSpPr>
          <p:spPr>
            <a:xfrm>
              <a:off x="3385734" y="2233242"/>
              <a:ext cx="340504" cy="319542"/>
            </a:xfrm>
            <a:custGeom>
              <a:avLst/>
              <a:gdLst/>
              <a:ahLst/>
              <a:cxnLst/>
              <a:rect l="l" t="t" r="r" b="b"/>
              <a:pathLst>
                <a:path w="10122" h="9289" extrusionOk="0">
                  <a:moveTo>
                    <a:pt x="9574" y="310"/>
                  </a:moveTo>
                  <a:cubicBezTo>
                    <a:pt x="9717" y="310"/>
                    <a:pt x="9812" y="406"/>
                    <a:pt x="9812" y="549"/>
                  </a:cubicBezTo>
                  <a:lnTo>
                    <a:pt x="9812" y="5669"/>
                  </a:lnTo>
                  <a:lnTo>
                    <a:pt x="8622" y="5669"/>
                  </a:lnTo>
                  <a:cubicBezTo>
                    <a:pt x="8550" y="5669"/>
                    <a:pt x="8479" y="5740"/>
                    <a:pt x="8479" y="5812"/>
                  </a:cubicBezTo>
                  <a:cubicBezTo>
                    <a:pt x="8479" y="5907"/>
                    <a:pt x="8550" y="5978"/>
                    <a:pt x="8622" y="5978"/>
                  </a:cubicBezTo>
                  <a:lnTo>
                    <a:pt x="9812" y="5978"/>
                  </a:lnTo>
                  <a:lnTo>
                    <a:pt x="9812" y="6455"/>
                  </a:lnTo>
                  <a:cubicBezTo>
                    <a:pt x="9812" y="6597"/>
                    <a:pt x="9717" y="6717"/>
                    <a:pt x="9574" y="6717"/>
                  </a:cubicBezTo>
                  <a:lnTo>
                    <a:pt x="549" y="6717"/>
                  </a:lnTo>
                  <a:cubicBezTo>
                    <a:pt x="406" y="6717"/>
                    <a:pt x="287" y="6597"/>
                    <a:pt x="287" y="6455"/>
                  </a:cubicBezTo>
                  <a:lnTo>
                    <a:pt x="287" y="5978"/>
                  </a:lnTo>
                  <a:lnTo>
                    <a:pt x="7979" y="5978"/>
                  </a:lnTo>
                  <a:cubicBezTo>
                    <a:pt x="8050" y="5978"/>
                    <a:pt x="8122" y="5907"/>
                    <a:pt x="8122" y="5812"/>
                  </a:cubicBezTo>
                  <a:cubicBezTo>
                    <a:pt x="8122" y="5740"/>
                    <a:pt x="8050" y="5669"/>
                    <a:pt x="7979" y="5669"/>
                  </a:cubicBezTo>
                  <a:lnTo>
                    <a:pt x="6216" y="5669"/>
                  </a:lnTo>
                  <a:lnTo>
                    <a:pt x="6216" y="310"/>
                  </a:lnTo>
                  <a:close/>
                  <a:moveTo>
                    <a:pt x="5335" y="7002"/>
                  </a:moveTo>
                  <a:lnTo>
                    <a:pt x="5335" y="7193"/>
                  </a:lnTo>
                  <a:cubicBezTo>
                    <a:pt x="5335" y="7360"/>
                    <a:pt x="5216" y="7479"/>
                    <a:pt x="5049" y="7479"/>
                  </a:cubicBezTo>
                  <a:cubicBezTo>
                    <a:pt x="4907" y="7479"/>
                    <a:pt x="4764" y="7360"/>
                    <a:pt x="4764" y="7193"/>
                  </a:cubicBezTo>
                  <a:lnTo>
                    <a:pt x="4764" y="7002"/>
                  </a:lnTo>
                  <a:close/>
                  <a:moveTo>
                    <a:pt x="6073" y="7002"/>
                  </a:moveTo>
                  <a:lnTo>
                    <a:pt x="6169" y="8241"/>
                  </a:lnTo>
                  <a:lnTo>
                    <a:pt x="3954" y="8241"/>
                  </a:lnTo>
                  <a:lnTo>
                    <a:pt x="4049" y="7002"/>
                  </a:lnTo>
                  <a:lnTo>
                    <a:pt x="4478" y="7002"/>
                  </a:lnTo>
                  <a:lnTo>
                    <a:pt x="4478" y="7193"/>
                  </a:lnTo>
                  <a:cubicBezTo>
                    <a:pt x="4478" y="7526"/>
                    <a:pt x="4740" y="7788"/>
                    <a:pt x="5049" y="7788"/>
                  </a:cubicBezTo>
                  <a:cubicBezTo>
                    <a:pt x="5383" y="7788"/>
                    <a:pt x="5645" y="7526"/>
                    <a:pt x="5645" y="7193"/>
                  </a:cubicBezTo>
                  <a:lnTo>
                    <a:pt x="5645" y="7002"/>
                  </a:lnTo>
                  <a:close/>
                  <a:moveTo>
                    <a:pt x="6859" y="8526"/>
                  </a:moveTo>
                  <a:cubicBezTo>
                    <a:pt x="6883" y="8526"/>
                    <a:pt x="6907" y="8550"/>
                    <a:pt x="6907" y="8574"/>
                  </a:cubicBezTo>
                  <a:lnTo>
                    <a:pt x="6907" y="8955"/>
                  </a:lnTo>
                  <a:cubicBezTo>
                    <a:pt x="6907" y="8979"/>
                    <a:pt x="6883" y="9003"/>
                    <a:pt x="6859" y="9003"/>
                  </a:cubicBezTo>
                  <a:lnTo>
                    <a:pt x="3263" y="9003"/>
                  </a:lnTo>
                  <a:cubicBezTo>
                    <a:pt x="3240" y="9003"/>
                    <a:pt x="3216" y="8979"/>
                    <a:pt x="3216" y="8955"/>
                  </a:cubicBezTo>
                  <a:lnTo>
                    <a:pt x="3216" y="8574"/>
                  </a:lnTo>
                  <a:cubicBezTo>
                    <a:pt x="3216" y="8550"/>
                    <a:pt x="3240" y="8526"/>
                    <a:pt x="3263" y="8526"/>
                  </a:cubicBezTo>
                  <a:close/>
                  <a:moveTo>
                    <a:pt x="549" y="1"/>
                  </a:moveTo>
                  <a:cubicBezTo>
                    <a:pt x="239" y="1"/>
                    <a:pt x="1" y="239"/>
                    <a:pt x="1" y="549"/>
                  </a:cubicBezTo>
                  <a:lnTo>
                    <a:pt x="1" y="1477"/>
                  </a:lnTo>
                  <a:cubicBezTo>
                    <a:pt x="1" y="1573"/>
                    <a:pt x="72" y="1644"/>
                    <a:pt x="144" y="1644"/>
                  </a:cubicBezTo>
                  <a:cubicBezTo>
                    <a:pt x="215" y="1644"/>
                    <a:pt x="287" y="1573"/>
                    <a:pt x="287" y="1477"/>
                  </a:cubicBezTo>
                  <a:lnTo>
                    <a:pt x="287" y="549"/>
                  </a:lnTo>
                  <a:cubicBezTo>
                    <a:pt x="287" y="406"/>
                    <a:pt x="406" y="310"/>
                    <a:pt x="549" y="310"/>
                  </a:cubicBezTo>
                  <a:lnTo>
                    <a:pt x="5907" y="310"/>
                  </a:lnTo>
                  <a:lnTo>
                    <a:pt x="5907" y="5669"/>
                  </a:lnTo>
                  <a:lnTo>
                    <a:pt x="287" y="5669"/>
                  </a:lnTo>
                  <a:lnTo>
                    <a:pt x="287" y="2144"/>
                  </a:lnTo>
                  <a:cubicBezTo>
                    <a:pt x="287" y="2049"/>
                    <a:pt x="239" y="2001"/>
                    <a:pt x="144" y="2001"/>
                  </a:cubicBezTo>
                  <a:cubicBezTo>
                    <a:pt x="72" y="2001"/>
                    <a:pt x="1" y="2049"/>
                    <a:pt x="1" y="2144"/>
                  </a:cubicBezTo>
                  <a:lnTo>
                    <a:pt x="1" y="6455"/>
                  </a:lnTo>
                  <a:cubicBezTo>
                    <a:pt x="1" y="6764"/>
                    <a:pt x="239" y="7002"/>
                    <a:pt x="549" y="7002"/>
                  </a:cubicBezTo>
                  <a:lnTo>
                    <a:pt x="3763" y="7002"/>
                  </a:lnTo>
                  <a:lnTo>
                    <a:pt x="3644" y="8241"/>
                  </a:lnTo>
                  <a:lnTo>
                    <a:pt x="3263" y="8241"/>
                  </a:lnTo>
                  <a:cubicBezTo>
                    <a:pt x="3073" y="8241"/>
                    <a:pt x="2930" y="8384"/>
                    <a:pt x="2930" y="8574"/>
                  </a:cubicBezTo>
                  <a:lnTo>
                    <a:pt x="2930" y="8955"/>
                  </a:lnTo>
                  <a:cubicBezTo>
                    <a:pt x="2930" y="9146"/>
                    <a:pt x="3073" y="9288"/>
                    <a:pt x="3263" y="9288"/>
                  </a:cubicBezTo>
                  <a:lnTo>
                    <a:pt x="6859" y="9288"/>
                  </a:lnTo>
                  <a:cubicBezTo>
                    <a:pt x="7050" y="9288"/>
                    <a:pt x="7193" y="9146"/>
                    <a:pt x="7193" y="8955"/>
                  </a:cubicBezTo>
                  <a:lnTo>
                    <a:pt x="7193" y="8574"/>
                  </a:lnTo>
                  <a:cubicBezTo>
                    <a:pt x="7193" y="8384"/>
                    <a:pt x="7050" y="8241"/>
                    <a:pt x="6859" y="8241"/>
                  </a:cubicBezTo>
                  <a:lnTo>
                    <a:pt x="6478" y="8241"/>
                  </a:lnTo>
                  <a:lnTo>
                    <a:pt x="6359" y="7002"/>
                  </a:lnTo>
                  <a:lnTo>
                    <a:pt x="9574" y="7002"/>
                  </a:lnTo>
                  <a:cubicBezTo>
                    <a:pt x="9860" y="7002"/>
                    <a:pt x="10122" y="6764"/>
                    <a:pt x="10122" y="6455"/>
                  </a:cubicBezTo>
                  <a:lnTo>
                    <a:pt x="10122" y="549"/>
                  </a:lnTo>
                  <a:cubicBezTo>
                    <a:pt x="10122" y="239"/>
                    <a:pt x="9884" y="1"/>
                    <a:pt x="9574" y="1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2831;p94">
              <a:extLst>
                <a:ext uri="{FF2B5EF4-FFF2-40B4-BE49-F238E27FC236}">
                  <a16:creationId xmlns:a16="http://schemas.microsoft.com/office/drawing/2014/main" id="{6A25AEAC-89F0-49CB-B7BE-42F11987AD9D}"/>
                </a:ext>
              </a:extLst>
            </p:cNvPr>
            <p:cNvSpPr/>
            <p:nvPr/>
          </p:nvSpPr>
          <p:spPr>
            <a:xfrm>
              <a:off x="3420989" y="2296022"/>
              <a:ext cx="143441" cy="113382"/>
            </a:xfrm>
            <a:custGeom>
              <a:avLst/>
              <a:gdLst/>
              <a:ahLst/>
              <a:cxnLst/>
              <a:rect l="l" t="t" r="r" b="b"/>
              <a:pathLst>
                <a:path w="4264" h="3296" extrusionOk="0">
                  <a:moveTo>
                    <a:pt x="3897" y="0"/>
                  </a:moveTo>
                  <a:cubicBezTo>
                    <a:pt x="3848" y="0"/>
                    <a:pt x="3805" y="22"/>
                    <a:pt x="3787" y="57"/>
                  </a:cubicBezTo>
                  <a:lnTo>
                    <a:pt x="2835" y="1176"/>
                  </a:lnTo>
                  <a:lnTo>
                    <a:pt x="2596" y="986"/>
                  </a:lnTo>
                  <a:cubicBezTo>
                    <a:pt x="2573" y="962"/>
                    <a:pt x="2537" y="950"/>
                    <a:pt x="2501" y="950"/>
                  </a:cubicBezTo>
                  <a:cubicBezTo>
                    <a:pt x="2465" y="950"/>
                    <a:pt x="2430" y="962"/>
                    <a:pt x="2406" y="986"/>
                  </a:cubicBezTo>
                  <a:lnTo>
                    <a:pt x="1811" y="1629"/>
                  </a:lnTo>
                  <a:lnTo>
                    <a:pt x="1096" y="1367"/>
                  </a:lnTo>
                  <a:cubicBezTo>
                    <a:pt x="1084" y="1355"/>
                    <a:pt x="1066" y="1349"/>
                    <a:pt x="1045" y="1349"/>
                  </a:cubicBezTo>
                  <a:cubicBezTo>
                    <a:pt x="1025" y="1349"/>
                    <a:pt x="1001" y="1355"/>
                    <a:pt x="977" y="1367"/>
                  </a:cubicBezTo>
                  <a:lnTo>
                    <a:pt x="286" y="1772"/>
                  </a:lnTo>
                  <a:lnTo>
                    <a:pt x="286" y="462"/>
                  </a:lnTo>
                  <a:cubicBezTo>
                    <a:pt x="286" y="391"/>
                    <a:pt x="239" y="319"/>
                    <a:pt x="144" y="319"/>
                  </a:cubicBezTo>
                  <a:cubicBezTo>
                    <a:pt x="72" y="319"/>
                    <a:pt x="1" y="391"/>
                    <a:pt x="1" y="462"/>
                  </a:cubicBezTo>
                  <a:lnTo>
                    <a:pt x="1" y="3153"/>
                  </a:lnTo>
                  <a:cubicBezTo>
                    <a:pt x="1" y="3225"/>
                    <a:pt x="72" y="3296"/>
                    <a:pt x="144" y="3296"/>
                  </a:cubicBezTo>
                  <a:lnTo>
                    <a:pt x="4121" y="3296"/>
                  </a:lnTo>
                  <a:cubicBezTo>
                    <a:pt x="4192" y="3296"/>
                    <a:pt x="4263" y="3225"/>
                    <a:pt x="4263" y="3153"/>
                  </a:cubicBezTo>
                  <a:cubicBezTo>
                    <a:pt x="4263" y="3082"/>
                    <a:pt x="4216" y="3010"/>
                    <a:pt x="4121" y="3010"/>
                  </a:cubicBezTo>
                  <a:lnTo>
                    <a:pt x="4049" y="3010"/>
                  </a:lnTo>
                  <a:lnTo>
                    <a:pt x="4049" y="2200"/>
                  </a:lnTo>
                  <a:cubicBezTo>
                    <a:pt x="4049" y="2105"/>
                    <a:pt x="3978" y="2034"/>
                    <a:pt x="3906" y="2034"/>
                  </a:cubicBezTo>
                  <a:cubicBezTo>
                    <a:pt x="3811" y="2034"/>
                    <a:pt x="3739" y="2105"/>
                    <a:pt x="3739" y="2200"/>
                  </a:cubicBezTo>
                  <a:lnTo>
                    <a:pt x="3739" y="3010"/>
                  </a:lnTo>
                  <a:lnTo>
                    <a:pt x="3382" y="3010"/>
                  </a:lnTo>
                  <a:lnTo>
                    <a:pt x="3382" y="2891"/>
                  </a:lnTo>
                  <a:cubicBezTo>
                    <a:pt x="3382" y="2820"/>
                    <a:pt x="3311" y="2748"/>
                    <a:pt x="3239" y="2748"/>
                  </a:cubicBezTo>
                  <a:cubicBezTo>
                    <a:pt x="3144" y="2748"/>
                    <a:pt x="3073" y="2796"/>
                    <a:pt x="3073" y="2891"/>
                  </a:cubicBezTo>
                  <a:lnTo>
                    <a:pt x="3073" y="3010"/>
                  </a:lnTo>
                  <a:lnTo>
                    <a:pt x="2573" y="3010"/>
                  </a:lnTo>
                  <a:lnTo>
                    <a:pt x="2573" y="2891"/>
                  </a:lnTo>
                  <a:cubicBezTo>
                    <a:pt x="2573" y="2820"/>
                    <a:pt x="2525" y="2748"/>
                    <a:pt x="2430" y="2748"/>
                  </a:cubicBezTo>
                  <a:cubicBezTo>
                    <a:pt x="2358" y="2748"/>
                    <a:pt x="2287" y="2796"/>
                    <a:pt x="2287" y="2891"/>
                  </a:cubicBezTo>
                  <a:lnTo>
                    <a:pt x="2287" y="3010"/>
                  </a:lnTo>
                  <a:lnTo>
                    <a:pt x="1787" y="3010"/>
                  </a:lnTo>
                  <a:lnTo>
                    <a:pt x="1787" y="2891"/>
                  </a:lnTo>
                  <a:cubicBezTo>
                    <a:pt x="1787" y="2820"/>
                    <a:pt x="1715" y="2748"/>
                    <a:pt x="1644" y="2748"/>
                  </a:cubicBezTo>
                  <a:cubicBezTo>
                    <a:pt x="1549" y="2748"/>
                    <a:pt x="1501" y="2796"/>
                    <a:pt x="1501" y="2891"/>
                  </a:cubicBezTo>
                  <a:lnTo>
                    <a:pt x="1501" y="3010"/>
                  </a:lnTo>
                  <a:lnTo>
                    <a:pt x="1001" y="3010"/>
                  </a:lnTo>
                  <a:lnTo>
                    <a:pt x="1001" y="2891"/>
                  </a:lnTo>
                  <a:cubicBezTo>
                    <a:pt x="1001" y="2820"/>
                    <a:pt x="929" y="2748"/>
                    <a:pt x="834" y="2748"/>
                  </a:cubicBezTo>
                  <a:cubicBezTo>
                    <a:pt x="763" y="2748"/>
                    <a:pt x="691" y="2796"/>
                    <a:pt x="691" y="2891"/>
                  </a:cubicBezTo>
                  <a:lnTo>
                    <a:pt x="691" y="3010"/>
                  </a:lnTo>
                  <a:lnTo>
                    <a:pt x="286" y="3010"/>
                  </a:lnTo>
                  <a:lnTo>
                    <a:pt x="286" y="2105"/>
                  </a:lnTo>
                  <a:lnTo>
                    <a:pt x="1048" y="1653"/>
                  </a:lnTo>
                  <a:lnTo>
                    <a:pt x="1811" y="1962"/>
                  </a:lnTo>
                  <a:cubicBezTo>
                    <a:pt x="1823" y="1969"/>
                    <a:pt x="1838" y="1972"/>
                    <a:pt x="1853" y="1972"/>
                  </a:cubicBezTo>
                  <a:cubicBezTo>
                    <a:pt x="1893" y="1972"/>
                    <a:pt x="1936" y="1950"/>
                    <a:pt x="1953" y="1915"/>
                  </a:cubicBezTo>
                  <a:lnTo>
                    <a:pt x="2525" y="1296"/>
                  </a:lnTo>
                  <a:lnTo>
                    <a:pt x="2763" y="1486"/>
                  </a:lnTo>
                  <a:cubicBezTo>
                    <a:pt x="2795" y="1518"/>
                    <a:pt x="2828" y="1531"/>
                    <a:pt x="2860" y="1531"/>
                  </a:cubicBezTo>
                  <a:cubicBezTo>
                    <a:pt x="2899" y="1531"/>
                    <a:pt x="2938" y="1512"/>
                    <a:pt x="2977" y="1486"/>
                  </a:cubicBezTo>
                  <a:lnTo>
                    <a:pt x="3739" y="557"/>
                  </a:lnTo>
                  <a:lnTo>
                    <a:pt x="3739" y="1534"/>
                  </a:lnTo>
                  <a:cubicBezTo>
                    <a:pt x="3739" y="1629"/>
                    <a:pt x="3811" y="1677"/>
                    <a:pt x="3882" y="1677"/>
                  </a:cubicBezTo>
                  <a:cubicBezTo>
                    <a:pt x="3978" y="1677"/>
                    <a:pt x="4049" y="1629"/>
                    <a:pt x="4049" y="1534"/>
                  </a:cubicBezTo>
                  <a:lnTo>
                    <a:pt x="4049" y="152"/>
                  </a:lnTo>
                  <a:cubicBezTo>
                    <a:pt x="4049" y="81"/>
                    <a:pt x="4001" y="33"/>
                    <a:pt x="3954" y="10"/>
                  </a:cubicBezTo>
                  <a:cubicBezTo>
                    <a:pt x="3935" y="3"/>
                    <a:pt x="3916" y="0"/>
                    <a:pt x="389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2832;p94">
              <a:extLst>
                <a:ext uri="{FF2B5EF4-FFF2-40B4-BE49-F238E27FC236}">
                  <a16:creationId xmlns:a16="http://schemas.microsoft.com/office/drawing/2014/main" id="{3504136F-174E-465D-95D8-13EE2C34474F}"/>
                </a:ext>
              </a:extLst>
            </p:cNvPr>
            <p:cNvSpPr/>
            <p:nvPr/>
          </p:nvSpPr>
          <p:spPr>
            <a:xfrm>
              <a:off x="3451433" y="2319276"/>
              <a:ext cx="9655" cy="13966"/>
            </a:xfrm>
            <a:custGeom>
              <a:avLst/>
              <a:gdLst/>
              <a:ahLst/>
              <a:cxnLst/>
              <a:rect l="l" t="t" r="r" b="b"/>
              <a:pathLst>
                <a:path w="287" h="406" extrusionOk="0">
                  <a:moveTo>
                    <a:pt x="143" y="0"/>
                  </a:moveTo>
                  <a:cubicBezTo>
                    <a:pt x="72" y="0"/>
                    <a:pt x="1" y="72"/>
                    <a:pt x="1" y="167"/>
                  </a:cubicBezTo>
                  <a:lnTo>
                    <a:pt x="1" y="262"/>
                  </a:lnTo>
                  <a:cubicBezTo>
                    <a:pt x="1" y="358"/>
                    <a:pt x="72" y="405"/>
                    <a:pt x="143" y="405"/>
                  </a:cubicBezTo>
                  <a:cubicBezTo>
                    <a:pt x="239" y="405"/>
                    <a:pt x="286" y="358"/>
                    <a:pt x="286" y="262"/>
                  </a:cubicBezTo>
                  <a:lnTo>
                    <a:pt x="286" y="167"/>
                  </a:lnTo>
                  <a:cubicBezTo>
                    <a:pt x="286" y="72"/>
                    <a:pt x="239" y="0"/>
                    <a:pt x="14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2833;p94">
              <a:extLst>
                <a:ext uri="{FF2B5EF4-FFF2-40B4-BE49-F238E27FC236}">
                  <a16:creationId xmlns:a16="http://schemas.microsoft.com/office/drawing/2014/main" id="{1A03FD0C-7738-4A35-B44B-4D9C0E75CBAB}"/>
                </a:ext>
              </a:extLst>
            </p:cNvPr>
            <p:cNvSpPr/>
            <p:nvPr/>
          </p:nvSpPr>
          <p:spPr>
            <a:xfrm>
              <a:off x="3500312" y="2305344"/>
              <a:ext cx="10428" cy="13966"/>
            </a:xfrm>
            <a:custGeom>
              <a:avLst/>
              <a:gdLst/>
              <a:ahLst/>
              <a:cxnLst/>
              <a:rect l="l" t="t" r="r" b="b"/>
              <a:pathLst>
                <a:path w="310" h="406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lnTo>
                    <a:pt x="0" y="262"/>
                  </a:lnTo>
                  <a:cubicBezTo>
                    <a:pt x="0" y="334"/>
                    <a:pt x="72" y="405"/>
                    <a:pt x="143" y="405"/>
                  </a:cubicBezTo>
                  <a:cubicBezTo>
                    <a:pt x="238" y="405"/>
                    <a:pt x="310" y="334"/>
                    <a:pt x="310" y="262"/>
                  </a:cubicBezTo>
                  <a:lnTo>
                    <a:pt x="310" y="143"/>
                  </a:lnTo>
                  <a:cubicBezTo>
                    <a:pt x="310" y="72"/>
                    <a:pt x="238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2834;p94">
              <a:extLst>
                <a:ext uri="{FF2B5EF4-FFF2-40B4-BE49-F238E27FC236}">
                  <a16:creationId xmlns:a16="http://schemas.microsoft.com/office/drawing/2014/main" id="{66009B1B-C6FD-49B8-8022-7BA95FBA9273}"/>
                </a:ext>
              </a:extLst>
            </p:cNvPr>
            <p:cNvSpPr/>
            <p:nvPr/>
          </p:nvSpPr>
          <p:spPr>
            <a:xfrm>
              <a:off x="3546769" y="2275038"/>
              <a:ext cx="10462" cy="13966"/>
            </a:xfrm>
            <a:custGeom>
              <a:avLst/>
              <a:gdLst/>
              <a:ahLst/>
              <a:cxnLst/>
              <a:rect l="l" t="t" r="r" b="b"/>
              <a:pathLst>
                <a:path w="311" h="406" extrusionOk="0">
                  <a:moveTo>
                    <a:pt x="167" y="0"/>
                  </a:moveTo>
                  <a:cubicBezTo>
                    <a:pt x="72" y="0"/>
                    <a:pt x="0" y="48"/>
                    <a:pt x="0" y="143"/>
                  </a:cubicBezTo>
                  <a:lnTo>
                    <a:pt x="0" y="239"/>
                  </a:lnTo>
                  <a:cubicBezTo>
                    <a:pt x="0" y="334"/>
                    <a:pt x="72" y="405"/>
                    <a:pt x="167" y="405"/>
                  </a:cubicBezTo>
                  <a:cubicBezTo>
                    <a:pt x="239" y="405"/>
                    <a:pt x="310" y="334"/>
                    <a:pt x="310" y="239"/>
                  </a:cubicBezTo>
                  <a:lnTo>
                    <a:pt x="310" y="143"/>
                  </a:lnTo>
                  <a:cubicBezTo>
                    <a:pt x="310" y="48"/>
                    <a:pt x="239" y="0"/>
                    <a:pt x="16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2835;p94">
              <a:extLst>
                <a:ext uri="{FF2B5EF4-FFF2-40B4-BE49-F238E27FC236}">
                  <a16:creationId xmlns:a16="http://schemas.microsoft.com/office/drawing/2014/main" id="{842A40FB-E85F-45B5-A562-0F31875BC8DD}"/>
                </a:ext>
              </a:extLst>
            </p:cNvPr>
            <p:cNvSpPr/>
            <p:nvPr/>
          </p:nvSpPr>
          <p:spPr>
            <a:xfrm>
              <a:off x="3420989" y="2260280"/>
              <a:ext cx="27282" cy="9873"/>
            </a:xfrm>
            <a:custGeom>
              <a:avLst/>
              <a:gdLst/>
              <a:ahLst/>
              <a:cxnLst/>
              <a:rect l="l" t="t" r="r" b="b"/>
              <a:pathLst>
                <a:path w="811" h="287" extrusionOk="0">
                  <a:moveTo>
                    <a:pt x="144" y="1"/>
                  </a:moveTo>
                  <a:cubicBezTo>
                    <a:pt x="72" y="1"/>
                    <a:pt x="1" y="72"/>
                    <a:pt x="1" y="144"/>
                  </a:cubicBezTo>
                  <a:cubicBezTo>
                    <a:pt x="1" y="239"/>
                    <a:pt x="72" y="287"/>
                    <a:pt x="144" y="287"/>
                  </a:cubicBezTo>
                  <a:lnTo>
                    <a:pt x="667" y="287"/>
                  </a:lnTo>
                  <a:cubicBezTo>
                    <a:pt x="739" y="287"/>
                    <a:pt x="810" y="239"/>
                    <a:pt x="810" y="144"/>
                  </a:cubicBezTo>
                  <a:cubicBezTo>
                    <a:pt x="810" y="72"/>
                    <a:pt x="739" y="1"/>
                    <a:pt x="6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2836;p94">
              <a:extLst>
                <a:ext uri="{FF2B5EF4-FFF2-40B4-BE49-F238E27FC236}">
                  <a16:creationId xmlns:a16="http://schemas.microsoft.com/office/drawing/2014/main" id="{543973E7-B229-4280-95BA-F224FDE6583D}"/>
                </a:ext>
              </a:extLst>
            </p:cNvPr>
            <p:cNvSpPr/>
            <p:nvPr/>
          </p:nvSpPr>
          <p:spPr>
            <a:xfrm>
              <a:off x="3420989" y="2279131"/>
              <a:ext cx="47298" cy="10698"/>
            </a:xfrm>
            <a:custGeom>
              <a:avLst/>
              <a:gdLst/>
              <a:ahLst/>
              <a:cxnLst/>
              <a:rect l="l" t="t" r="r" b="b"/>
              <a:pathLst>
                <a:path w="1406" h="311" extrusionOk="0">
                  <a:moveTo>
                    <a:pt x="144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9"/>
                    <a:pt x="72" y="310"/>
                    <a:pt x="144" y="310"/>
                  </a:cubicBezTo>
                  <a:lnTo>
                    <a:pt x="1239" y="310"/>
                  </a:lnTo>
                  <a:cubicBezTo>
                    <a:pt x="1334" y="310"/>
                    <a:pt x="1406" y="239"/>
                    <a:pt x="1406" y="143"/>
                  </a:cubicBezTo>
                  <a:cubicBezTo>
                    <a:pt x="1406" y="72"/>
                    <a:pt x="1334" y="0"/>
                    <a:pt x="123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2837;p94">
              <a:extLst>
                <a:ext uri="{FF2B5EF4-FFF2-40B4-BE49-F238E27FC236}">
                  <a16:creationId xmlns:a16="http://schemas.microsoft.com/office/drawing/2014/main" id="{41575783-12EF-40FC-B478-EC50906BBB87}"/>
                </a:ext>
              </a:extLst>
            </p:cNvPr>
            <p:cNvSpPr/>
            <p:nvPr/>
          </p:nvSpPr>
          <p:spPr>
            <a:xfrm>
              <a:off x="3640490" y="2276689"/>
              <a:ext cx="31285" cy="54077"/>
            </a:xfrm>
            <a:custGeom>
              <a:avLst/>
              <a:gdLst/>
              <a:ahLst/>
              <a:cxnLst/>
              <a:rect l="l" t="t" r="r" b="b"/>
              <a:pathLst>
                <a:path w="930" h="1572" extrusionOk="0">
                  <a:moveTo>
                    <a:pt x="453" y="0"/>
                  </a:moveTo>
                  <a:cubicBezTo>
                    <a:pt x="382" y="0"/>
                    <a:pt x="310" y="48"/>
                    <a:pt x="310" y="143"/>
                  </a:cubicBezTo>
                  <a:lnTo>
                    <a:pt x="310" y="167"/>
                  </a:lnTo>
                  <a:cubicBezTo>
                    <a:pt x="144" y="214"/>
                    <a:pt x="1" y="357"/>
                    <a:pt x="1" y="548"/>
                  </a:cubicBezTo>
                  <a:cubicBezTo>
                    <a:pt x="1" y="762"/>
                    <a:pt x="167" y="929"/>
                    <a:pt x="382" y="929"/>
                  </a:cubicBezTo>
                  <a:lnTo>
                    <a:pt x="525" y="929"/>
                  </a:lnTo>
                  <a:cubicBezTo>
                    <a:pt x="572" y="929"/>
                    <a:pt x="620" y="976"/>
                    <a:pt x="620" y="1024"/>
                  </a:cubicBezTo>
                  <a:cubicBezTo>
                    <a:pt x="620" y="1072"/>
                    <a:pt x="572" y="1119"/>
                    <a:pt x="525" y="1119"/>
                  </a:cubicBezTo>
                  <a:lnTo>
                    <a:pt x="382" y="1119"/>
                  </a:lnTo>
                  <a:cubicBezTo>
                    <a:pt x="358" y="1119"/>
                    <a:pt x="310" y="1095"/>
                    <a:pt x="310" y="1048"/>
                  </a:cubicBezTo>
                  <a:cubicBezTo>
                    <a:pt x="293" y="994"/>
                    <a:pt x="234" y="967"/>
                    <a:pt x="176" y="967"/>
                  </a:cubicBezTo>
                  <a:cubicBezTo>
                    <a:pt x="157" y="967"/>
                    <a:pt x="138" y="970"/>
                    <a:pt x="120" y="976"/>
                  </a:cubicBezTo>
                  <a:cubicBezTo>
                    <a:pt x="48" y="1024"/>
                    <a:pt x="1" y="1095"/>
                    <a:pt x="48" y="1167"/>
                  </a:cubicBezTo>
                  <a:cubicBezTo>
                    <a:pt x="96" y="1286"/>
                    <a:pt x="191" y="1381"/>
                    <a:pt x="310" y="1405"/>
                  </a:cubicBezTo>
                  <a:cubicBezTo>
                    <a:pt x="310" y="1500"/>
                    <a:pt x="382" y="1572"/>
                    <a:pt x="453" y="1572"/>
                  </a:cubicBezTo>
                  <a:cubicBezTo>
                    <a:pt x="549" y="1572"/>
                    <a:pt x="620" y="1500"/>
                    <a:pt x="620" y="1405"/>
                  </a:cubicBezTo>
                  <a:cubicBezTo>
                    <a:pt x="787" y="1357"/>
                    <a:pt x="930" y="1215"/>
                    <a:pt x="930" y="1024"/>
                  </a:cubicBezTo>
                  <a:cubicBezTo>
                    <a:pt x="930" y="810"/>
                    <a:pt x="739" y="643"/>
                    <a:pt x="525" y="643"/>
                  </a:cubicBezTo>
                  <a:lnTo>
                    <a:pt x="382" y="643"/>
                  </a:lnTo>
                  <a:cubicBezTo>
                    <a:pt x="334" y="643"/>
                    <a:pt x="310" y="595"/>
                    <a:pt x="310" y="548"/>
                  </a:cubicBezTo>
                  <a:cubicBezTo>
                    <a:pt x="310" y="500"/>
                    <a:pt x="334" y="453"/>
                    <a:pt x="382" y="453"/>
                  </a:cubicBezTo>
                  <a:lnTo>
                    <a:pt x="525" y="453"/>
                  </a:lnTo>
                  <a:cubicBezTo>
                    <a:pt x="572" y="453"/>
                    <a:pt x="596" y="476"/>
                    <a:pt x="620" y="500"/>
                  </a:cubicBezTo>
                  <a:cubicBezTo>
                    <a:pt x="635" y="546"/>
                    <a:pt x="681" y="573"/>
                    <a:pt x="730" y="573"/>
                  </a:cubicBezTo>
                  <a:cubicBezTo>
                    <a:pt x="757" y="573"/>
                    <a:pt x="785" y="565"/>
                    <a:pt x="810" y="548"/>
                  </a:cubicBezTo>
                  <a:cubicBezTo>
                    <a:pt x="882" y="500"/>
                    <a:pt x="906" y="405"/>
                    <a:pt x="858" y="333"/>
                  </a:cubicBezTo>
                  <a:cubicBezTo>
                    <a:pt x="787" y="238"/>
                    <a:pt x="715" y="191"/>
                    <a:pt x="620" y="167"/>
                  </a:cubicBezTo>
                  <a:lnTo>
                    <a:pt x="620" y="143"/>
                  </a:lnTo>
                  <a:cubicBezTo>
                    <a:pt x="620" y="48"/>
                    <a:pt x="549" y="0"/>
                    <a:pt x="453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2838;p94">
              <a:extLst>
                <a:ext uri="{FF2B5EF4-FFF2-40B4-BE49-F238E27FC236}">
                  <a16:creationId xmlns:a16="http://schemas.microsoft.com/office/drawing/2014/main" id="{6F0CCC03-3E72-49CA-80F0-A626E2390658}"/>
                </a:ext>
              </a:extLst>
            </p:cNvPr>
            <p:cNvSpPr/>
            <p:nvPr/>
          </p:nvSpPr>
          <p:spPr>
            <a:xfrm>
              <a:off x="3614049" y="2260280"/>
              <a:ext cx="84167" cy="86069"/>
            </a:xfrm>
            <a:custGeom>
              <a:avLst/>
              <a:gdLst/>
              <a:ahLst/>
              <a:cxnLst/>
              <a:rect l="l" t="t" r="r" b="b"/>
              <a:pathLst>
                <a:path w="2502" h="2502" extrusionOk="0">
                  <a:moveTo>
                    <a:pt x="1239" y="287"/>
                  </a:moveTo>
                  <a:cubicBezTo>
                    <a:pt x="1763" y="287"/>
                    <a:pt x="2216" y="715"/>
                    <a:pt x="2216" y="1263"/>
                  </a:cubicBezTo>
                  <a:cubicBezTo>
                    <a:pt x="2216" y="1787"/>
                    <a:pt x="1787" y="2215"/>
                    <a:pt x="1239" y="2215"/>
                  </a:cubicBezTo>
                  <a:cubicBezTo>
                    <a:pt x="715" y="2215"/>
                    <a:pt x="287" y="1787"/>
                    <a:pt x="287" y="1263"/>
                  </a:cubicBezTo>
                  <a:cubicBezTo>
                    <a:pt x="287" y="715"/>
                    <a:pt x="715" y="287"/>
                    <a:pt x="1239" y="287"/>
                  </a:cubicBezTo>
                  <a:close/>
                  <a:moveTo>
                    <a:pt x="1239" y="1"/>
                  </a:moveTo>
                  <a:cubicBezTo>
                    <a:pt x="549" y="1"/>
                    <a:pt x="1" y="548"/>
                    <a:pt x="1" y="1239"/>
                  </a:cubicBezTo>
                  <a:cubicBezTo>
                    <a:pt x="1" y="1954"/>
                    <a:pt x="549" y="2501"/>
                    <a:pt x="1239" y="2501"/>
                  </a:cubicBezTo>
                  <a:cubicBezTo>
                    <a:pt x="1930" y="2501"/>
                    <a:pt x="2501" y="1954"/>
                    <a:pt x="2501" y="1239"/>
                  </a:cubicBezTo>
                  <a:cubicBezTo>
                    <a:pt x="2501" y="572"/>
                    <a:pt x="1930" y="1"/>
                    <a:pt x="123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2839;p94">
              <a:extLst>
                <a:ext uri="{FF2B5EF4-FFF2-40B4-BE49-F238E27FC236}">
                  <a16:creationId xmlns:a16="http://schemas.microsoft.com/office/drawing/2014/main" id="{18635451-A733-4CC9-B50F-300CE78CFF2E}"/>
                </a:ext>
              </a:extLst>
            </p:cNvPr>
            <p:cNvSpPr/>
            <p:nvPr/>
          </p:nvSpPr>
          <p:spPr>
            <a:xfrm>
              <a:off x="3610046" y="2358595"/>
              <a:ext cx="45717" cy="10698"/>
            </a:xfrm>
            <a:custGeom>
              <a:avLst/>
              <a:gdLst/>
              <a:ahLst/>
              <a:cxnLst/>
              <a:rect l="l" t="t" r="r" b="b"/>
              <a:pathLst>
                <a:path w="1359" h="311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1215" y="310"/>
                  </a:lnTo>
                  <a:cubicBezTo>
                    <a:pt x="1287" y="310"/>
                    <a:pt x="1358" y="239"/>
                    <a:pt x="1358" y="143"/>
                  </a:cubicBezTo>
                  <a:cubicBezTo>
                    <a:pt x="1358" y="72"/>
                    <a:pt x="1311" y="0"/>
                    <a:pt x="1215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2840;p94">
              <a:extLst>
                <a:ext uri="{FF2B5EF4-FFF2-40B4-BE49-F238E27FC236}">
                  <a16:creationId xmlns:a16="http://schemas.microsoft.com/office/drawing/2014/main" id="{26780036-310A-4D31-A416-A5EB695F5FF5}"/>
                </a:ext>
              </a:extLst>
            </p:cNvPr>
            <p:cNvSpPr/>
            <p:nvPr/>
          </p:nvSpPr>
          <p:spPr>
            <a:xfrm>
              <a:off x="3671742" y="2379063"/>
              <a:ext cx="25667" cy="9873"/>
            </a:xfrm>
            <a:custGeom>
              <a:avLst/>
              <a:gdLst/>
              <a:ahLst/>
              <a:cxnLst/>
              <a:rect l="l" t="t" r="r" b="b"/>
              <a:pathLst>
                <a:path w="763" h="287" extrusionOk="0">
                  <a:moveTo>
                    <a:pt x="143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3" y="287"/>
                  </a:cubicBezTo>
                  <a:lnTo>
                    <a:pt x="596" y="287"/>
                  </a:lnTo>
                  <a:cubicBezTo>
                    <a:pt x="691" y="287"/>
                    <a:pt x="763" y="215"/>
                    <a:pt x="763" y="144"/>
                  </a:cubicBezTo>
                  <a:cubicBezTo>
                    <a:pt x="763" y="72"/>
                    <a:pt x="691" y="1"/>
                    <a:pt x="59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2841;p94">
              <a:extLst>
                <a:ext uri="{FF2B5EF4-FFF2-40B4-BE49-F238E27FC236}">
                  <a16:creationId xmlns:a16="http://schemas.microsoft.com/office/drawing/2014/main" id="{76A8C9FE-70F9-46C6-890D-45DD60BFE8B2}"/>
                </a:ext>
              </a:extLst>
            </p:cNvPr>
            <p:cNvSpPr/>
            <p:nvPr/>
          </p:nvSpPr>
          <p:spPr>
            <a:xfrm>
              <a:off x="3610046" y="2379063"/>
              <a:ext cx="28897" cy="9873"/>
            </a:xfrm>
            <a:custGeom>
              <a:avLst/>
              <a:gdLst/>
              <a:ahLst/>
              <a:cxnLst/>
              <a:rect l="l" t="t" r="r" b="b"/>
              <a:pathLst>
                <a:path w="859" h="287" extrusionOk="0">
                  <a:moveTo>
                    <a:pt x="144" y="1"/>
                  </a:moveTo>
                  <a:cubicBezTo>
                    <a:pt x="48" y="1"/>
                    <a:pt x="1" y="48"/>
                    <a:pt x="1" y="144"/>
                  </a:cubicBezTo>
                  <a:cubicBezTo>
                    <a:pt x="1" y="215"/>
                    <a:pt x="48" y="287"/>
                    <a:pt x="144" y="287"/>
                  </a:cubicBezTo>
                  <a:lnTo>
                    <a:pt x="715" y="287"/>
                  </a:lnTo>
                  <a:cubicBezTo>
                    <a:pt x="787" y="287"/>
                    <a:pt x="858" y="215"/>
                    <a:pt x="858" y="144"/>
                  </a:cubicBezTo>
                  <a:cubicBezTo>
                    <a:pt x="858" y="72"/>
                    <a:pt x="811" y="1"/>
                    <a:pt x="7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" name="Google Shape;2842;p94">
              <a:extLst>
                <a:ext uri="{FF2B5EF4-FFF2-40B4-BE49-F238E27FC236}">
                  <a16:creationId xmlns:a16="http://schemas.microsoft.com/office/drawing/2014/main" id="{97FED165-3DBA-426F-92BB-B0C3DB516285}"/>
                </a:ext>
              </a:extLst>
            </p:cNvPr>
            <p:cNvSpPr/>
            <p:nvPr/>
          </p:nvSpPr>
          <p:spPr>
            <a:xfrm>
              <a:off x="3646108" y="2379063"/>
              <a:ext cx="19276" cy="9873"/>
            </a:xfrm>
            <a:custGeom>
              <a:avLst/>
              <a:gdLst/>
              <a:ahLst/>
              <a:cxnLst/>
              <a:rect l="l" t="t" r="r" b="b"/>
              <a:pathLst>
                <a:path w="573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429" y="287"/>
                  </a:lnTo>
                  <a:cubicBezTo>
                    <a:pt x="501" y="287"/>
                    <a:pt x="572" y="215"/>
                    <a:pt x="572" y="144"/>
                  </a:cubicBezTo>
                  <a:cubicBezTo>
                    <a:pt x="572" y="72"/>
                    <a:pt x="501" y="1"/>
                    <a:pt x="429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" name="Google Shape;2843;p94">
              <a:extLst>
                <a:ext uri="{FF2B5EF4-FFF2-40B4-BE49-F238E27FC236}">
                  <a16:creationId xmlns:a16="http://schemas.microsoft.com/office/drawing/2014/main" id="{386E4A42-856C-4795-ABCB-63A7928B33C3}"/>
                </a:ext>
              </a:extLst>
            </p:cNvPr>
            <p:cNvSpPr/>
            <p:nvPr/>
          </p:nvSpPr>
          <p:spPr>
            <a:xfrm>
              <a:off x="3610046" y="2398740"/>
              <a:ext cx="86556" cy="10664"/>
            </a:xfrm>
            <a:custGeom>
              <a:avLst/>
              <a:gdLst/>
              <a:ahLst/>
              <a:cxnLst/>
              <a:rect l="l" t="t" r="r" b="b"/>
              <a:pathLst>
                <a:path w="2573" h="310" extrusionOk="0">
                  <a:moveTo>
                    <a:pt x="144" y="0"/>
                  </a:moveTo>
                  <a:cubicBezTo>
                    <a:pt x="48" y="0"/>
                    <a:pt x="1" y="72"/>
                    <a:pt x="1" y="143"/>
                  </a:cubicBezTo>
                  <a:cubicBezTo>
                    <a:pt x="1" y="239"/>
                    <a:pt x="48" y="310"/>
                    <a:pt x="144" y="310"/>
                  </a:cubicBezTo>
                  <a:lnTo>
                    <a:pt x="2430" y="310"/>
                  </a:lnTo>
                  <a:cubicBezTo>
                    <a:pt x="2525" y="310"/>
                    <a:pt x="2573" y="239"/>
                    <a:pt x="2573" y="143"/>
                  </a:cubicBezTo>
                  <a:cubicBezTo>
                    <a:pt x="2573" y="72"/>
                    <a:pt x="2525" y="0"/>
                    <a:pt x="2430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0" name="Google Shape;2818;p94">
            <a:extLst>
              <a:ext uri="{FF2B5EF4-FFF2-40B4-BE49-F238E27FC236}">
                <a16:creationId xmlns:a16="http://schemas.microsoft.com/office/drawing/2014/main" id="{C0241749-B161-4D51-AE4A-9F151E800A9E}"/>
              </a:ext>
            </a:extLst>
          </p:cNvPr>
          <p:cNvGrpSpPr/>
          <p:nvPr/>
        </p:nvGrpSpPr>
        <p:grpSpPr>
          <a:xfrm>
            <a:off x="5710488" y="1722647"/>
            <a:ext cx="738531" cy="731528"/>
            <a:chOff x="4078718" y="2222819"/>
            <a:chExt cx="340504" cy="339803"/>
          </a:xfrm>
        </p:grpSpPr>
        <p:sp>
          <p:nvSpPr>
            <p:cNvPr id="84" name="Google Shape;2819;p94">
              <a:extLst>
                <a:ext uri="{FF2B5EF4-FFF2-40B4-BE49-F238E27FC236}">
                  <a16:creationId xmlns:a16="http://schemas.microsoft.com/office/drawing/2014/main" id="{148574C2-EBD4-4199-9829-8DFDEA9C78B4}"/>
                </a:ext>
              </a:extLst>
            </p:cNvPr>
            <p:cNvSpPr/>
            <p:nvPr/>
          </p:nvSpPr>
          <p:spPr>
            <a:xfrm>
              <a:off x="4267775" y="2311674"/>
              <a:ext cx="17661" cy="13382"/>
            </a:xfrm>
            <a:custGeom>
              <a:avLst/>
              <a:gdLst/>
              <a:ahLst/>
              <a:cxnLst/>
              <a:rect l="l" t="t" r="r" b="b"/>
              <a:pathLst>
                <a:path w="525" h="389" extrusionOk="0">
                  <a:moveTo>
                    <a:pt x="348" y="1"/>
                  </a:moveTo>
                  <a:cubicBezTo>
                    <a:pt x="335" y="1"/>
                    <a:pt x="323" y="3"/>
                    <a:pt x="310" y="7"/>
                  </a:cubicBezTo>
                  <a:lnTo>
                    <a:pt x="96" y="102"/>
                  </a:lnTo>
                  <a:cubicBezTo>
                    <a:pt x="24" y="126"/>
                    <a:pt x="1" y="221"/>
                    <a:pt x="24" y="293"/>
                  </a:cubicBezTo>
                  <a:cubicBezTo>
                    <a:pt x="48" y="340"/>
                    <a:pt x="96" y="388"/>
                    <a:pt x="143" y="388"/>
                  </a:cubicBezTo>
                  <a:cubicBezTo>
                    <a:pt x="167" y="388"/>
                    <a:pt x="191" y="388"/>
                    <a:pt x="215" y="364"/>
                  </a:cubicBezTo>
                  <a:lnTo>
                    <a:pt x="405" y="293"/>
                  </a:lnTo>
                  <a:cubicBezTo>
                    <a:pt x="477" y="269"/>
                    <a:pt x="524" y="174"/>
                    <a:pt x="501" y="102"/>
                  </a:cubicBezTo>
                  <a:cubicBezTo>
                    <a:pt x="461" y="44"/>
                    <a:pt x="406" y="1"/>
                    <a:pt x="34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2820;p94">
              <a:extLst>
                <a:ext uri="{FF2B5EF4-FFF2-40B4-BE49-F238E27FC236}">
                  <a16:creationId xmlns:a16="http://schemas.microsoft.com/office/drawing/2014/main" id="{57E0AF51-B6FC-41BD-911C-FDDBED10DCD6}"/>
                </a:ext>
              </a:extLst>
            </p:cNvPr>
            <p:cNvSpPr/>
            <p:nvPr/>
          </p:nvSpPr>
          <p:spPr>
            <a:xfrm>
              <a:off x="4257347" y="2292719"/>
              <a:ext cx="16080" cy="15927"/>
            </a:xfrm>
            <a:custGeom>
              <a:avLst/>
              <a:gdLst/>
              <a:ahLst/>
              <a:cxnLst/>
              <a:rect l="l" t="t" r="r" b="b"/>
              <a:pathLst>
                <a:path w="478" h="463" extrusionOk="0">
                  <a:moveTo>
                    <a:pt x="298" y="1"/>
                  </a:moveTo>
                  <a:cubicBezTo>
                    <a:pt x="258" y="1"/>
                    <a:pt x="218" y="19"/>
                    <a:pt x="191" y="58"/>
                  </a:cubicBezTo>
                  <a:lnTo>
                    <a:pt x="49" y="225"/>
                  </a:lnTo>
                  <a:cubicBezTo>
                    <a:pt x="1" y="296"/>
                    <a:pt x="25" y="391"/>
                    <a:pt x="96" y="439"/>
                  </a:cubicBezTo>
                  <a:cubicBezTo>
                    <a:pt x="120" y="463"/>
                    <a:pt x="144" y="463"/>
                    <a:pt x="168" y="463"/>
                  </a:cubicBezTo>
                  <a:cubicBezTo>
                    <a:pt x="215" y="463"/>
                    <a:pt x="263" y="439"/>
                    <a:pt x="287" y="415"/>
                  </a:cubicBezTo>
                  <a:lnTo>
                    <a:pt x="430" y="225"/>
                  </a:lnTo>
                  <a:cubicBezTo>
                    <a:pt x="477" y="177"/>
                    <a:pt x="453" y="82"/>
                    <a:pt x="382" y="34"/>
                  </a:cubicBezTo>
                  <a:cubicBezTo>
                    <a:pt x="361" y="13"/>
                    <a:pt x="330" y="1"/>
                    <a:pt x="29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2821;p94">
              <a:extLst>
                <a:ext uri="{FF2B5EF4-FFF2-40B4-BE49-F238E27FC236}">
                  <a16:creationId xmlns:a16="http://schemas.microsoft.com/office/drawing/2014/main" id="{57B8954A-C826-4A9B-B657-89922358B024}"/>
                </a:ext>
              </a:extLst>
            </p:cNvPr>
            <p:cNvSpPr/>
            <p:nvPr/>
          </p:nvSpPr>
          <p:spPr>
            <a:xfrm>
              <a:off x="4271778" y="2333208"/>
              <a:ext cx="17661" cy="11490"/>
            </a:xfrm>
            <a:custGeom>
              <a:avLst/>
              <a:gdLst/>
              <a:ahLst/>
              <a:cxnLst/>
              <a:rect l="l" t="t" r="r" b="b"/>
              <a:pathLst>
                <a:path w="525" h="334" extrusionOk="0">
                  <a:moveTo>
                    <a:pt x="191" y="0"/>
                  </a:moveTo>
                  <a:cubicBezTo>
                    <a:pt x="96" y="0"/>
                    <a:pt x="24" y="48"/>
                    <a:pt x="24" y="119"/>
                  </a:cubicBezTo>
                  <a:cubicBezTo>
                    <a:pt x="1" y="215"/>
                    <a:pt x="48" y="286"/>
                    <a:pt x="143" y="286"/>
                  </a:cubicBezTo>
                  <a:lnTo>
                    <a:pt x="358" y="334"/>
                  </a:lnTo>
                  <a:lnTo>
                    <a:pt x="382" y="334"/>
                  </a:lnTo>
                  <a:cubicBezTo>
                    <a:pt x="453" y="334"/>
                    <a:pt x="501" y="286"/>
                    <a:pt x="525" y="215"/>
                  </a:cubicBezTo>
                  <a:cubicBezTo>
                    <a:pt x="525" y="119"/>
                    <a:pt x="477" y="48"/>
                    <a:pt x="405" y="48"/>
                  </a:cubicBezTo>
                  <a:lnTo>
                    <a:pt x="191" y="0"/>
                  </a:ln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2822;p94">
              <a:extLst>
                <a:ext uri="{FF2B5EF4-FFF2-40B4-BE49-F238E27FC236}">
                  <a16:creationId xmlns:a16="http://schemas.microsoft.com/office/drawing/2014/main" id="{0E034DD0-4B55-4B91-A037-3246A0A29407}"/>
                </a:ext>
              </a:extLst>
            </p:cNvPr>
            <p:cNvSpPr/>
            <p:nvPr/>
          </p:nvSpPr>
          <p:spPr>
            <a:xfrm>
              <a:off x="4078718" y="2222819"/>
              <a:ext cx="340504" cy="339803"/>
            </a:xfrm>
            <a:custGeom>
              <a:avLst/>
              <a:gdLst/>
              <a:ahLst/>
              <a:cxnLst/>
              <a:rect l="l" t="t" r="r" b="b"/>
              <a:pathLst>
                <a:path w="10122" h="9878" extrusionOk="0">
                  <a:moveTo>
                    <a:pt x="4787" y="423"/>
                  </a:moveTo>
                  <a:lnTo>
                    <a:pt x="6168" y="994"/>
                  </a:lnTo>
                  <a:lnTo>
                    <a:pt x="5240" y="1376"/>
                  </a:lnTo>
                  <a:cubicBezTo>
                    <a:pt x="5233" y="1382"/>
                    <a:pt x="5226" y="1385"/>
                    <a:pt x="5219" y="1385"/>
                  </a:cubicBezTo>
                  <a:cubicBezTo>
                    <a:pt x="5202" y="1385"/>
                    <a:pt x="5185" y="1369"/>
                    <a:pt x="5168" y="1352"/>
                  </a:cubicBezTo>
                  <a:lnTo>
                    <a:pt x="4787" y="423"/>
                  </a:lnTo>
                  <a:close/>
                  <a:moveTo>
                    <a:pt x="8216" y="2066"/>
                  </a:moveTo>
                  <a:cubicBezTo>
                    <a:pt x="8264" y="2066"/>
                    <a:pt x="8312" y="2090"/>
                    <a:pt x="8312" y="2138"/>
                  </a:cubicBezTo>
                  <a:lnTo>
                    <a:pt x="8312" y="2566"/>
                  </a:lnTo>
                  <a:cubicBezTo>
                    <a:pt x="8312" y="2614"/>
                    <a:pt x="8264" y="2661"/>
                    <a:pt x="8216" y="2661"/>
                  </a:cubicBezTo>
                  <a:lnTo>
                    <a:pt x="7407" y="2661"/>
                  </a:lnTo>
                  <a:lnTo>
                    <a:pt x="7168" y="2066"/>
                  </a:lnTo>
                  <a:close/>
                  <a:moveTo>
                    <a:pt x="8788" y="1280"/>
                  </a:moveTo>
                  <a:cubicBezTo>
                    <a:pt x="8931" y="1280"/>
                    <a:pt x="9050" y="1399"/>
                    <a:pt x="9050" y="1542"/>
                  </a:cubicBezTo>
                  <a:lnTo>
                    <a:pt x="9050" y="3924"/>
                  </a:lnTo>
                  <a:lnTo>
                    <a:pt x="7954" y="3924"/>
                  </a:lnTo>
                  <a:lnTo>
                    <a:pt x="7550" y="2947"/>
                  </a:lnTo>
                  <a:lnTo>
                    <a:pt x="8216" y="2947"/>
                  </a:lnTo>
                  <a:cubicBezTo>
                    <a:pt x="8431" y="2947"/>
                    <a:pt x="8597" y="2781"/>
                    <a:pt x="8597" y="2566"/>
                  </a:cubicBezTo>
                  <a:lnTo>
                    <a:pt x="8597" y="2138"/>
                  </a:lnTo>
                  <a:cubicBezTo>
                    <a:pt x="8597" y="1923"/>
                    <a:pt x="8431" y="1757"/>
                    <a:pt x="8216" y="1757"/>
                  </a:cubicBezTo>
                  <a:lnTo>
                    <a:pt x="7049" y="1757"/>
                  </a:lnTo>
                  <a:lnTo>
                    <a:pt x="6835" y="1280"/>
                  </a:lnTo>
                  <a:close/>
                  <a:moveTo>
                    <a:pt x="4430" y="352"/>
                  </a:moveTo>
                  <a:lnTo>
                    <a:pt x="4906" y="1471"/>
                  </a:lnTo>
                  <a:cubicBezTo>
                    <a:pt x="4954" y="1614"/>
                    <a:pt x="5073" y="1685"/>
                    <a:pt x="5216" y="1685"/>
                  </a:cubicBezTo>
                  <a:cubicBezTo>
                    <a:pt x="5263" y="1685"/>
                    <a:pt x="5311" y="1685"/>
                    <a:pt x="5359" y="1661"/>
                  </a:cubicBezTo>
                  <a:lnTo>
                    <a:pt x="6478" y="1185"/>
                  </a:lnTo>
                  <a:lnTo>
                    <a:pt x="7621" y="3947"/>
                  </a:lnTo>
                  <a:lnTo>
                    <a:pt x="6907" y="3947"/>
                  </a:lnTo>
                  <a:cubicBezTo>
                    <a:pt x="6835" y="3947"/>
                    <a:pt x="6764" y="3995"/>
                    <a:pt x="6764" y="4090"/>
                  </a:cubicBezTo>
                  <a:cubicBezTo>
                    <a:pt x="6764" y="4162"/>
                    <a:pt x="6835" y="4233"/>
                    <a:pt x="6907" y="4233"/>
                  </a:cubicBezTo>
                  <a:lnTo>
                    <a:pt x="9574" y="4233"/>
                  </a:lnTo>
                  <a:cubicBezTo>
                    <a:pt x="9717" y="4233"/>
                    <a:pt x="9812" y="4352"/>
                    <a:pt x="9812" y="4471"/>
                  </a:cubicBezTo>
                  <a:lnTo>
                    <a:pt x="9812" y="8972"/>
                  </a:lnTo>
                  <a:cubicBezTo>
                    <a:pt x="9812" y="9330"/>
                    <a:pt x="9550" y="9591"/>
                    <a:pt x="9193" y="9591"/>
                  </a:cubicBezTo>
                  <a:lnTo>
                    <a:pt x="1596" y="9591"/>
                  </a:lnTo>
                  <a:cubicBezTo>
                    <a:pt x="1739" y="9425"/>
                    <a:pt x="1834" y="9210"/>
                    <a:pt x="1834" y="8972"/>
                  </a:cubicBezTo>
                  <a:lnTo>
                    <a:pt x="1834" y="7353"/>
                  </a:lnTo>
                  <a:cubicBezTo>
                    <a:pt x="1834" y="7281"/>
                    <a:pt x="1763" y="7210"/>
                    <a:pt x="1667" y="7210"/>
                  </a:cubicBezTo>
                  <a:cubicBezTo>
                    <a:pt x="1596" y="7210"/>
                    <a:pt x="1524" y="7281"/>
                    <a:pt x="1524" y="7353"/>
                  </a:cubicBezTo>
                  <a:lnTo>
                    <a:pt x="1524" y="8972"/>
                  </a:lnTo>
                  <a:cubicBezTo>
                    <a:pt x="1524" y="9330"/>
                    <a:pt x="1262" y="9591"/>
                    <a:pt x="905" y="9591"/>
                  </a:cubicBezTo>
                  <a:cubicBezTo>
                    <a:pt x="572" y="9591"/>
                    <a:pt x="286" y="9330"/>
                    <a:pt x="286" y="8972"/>
                  </a:cubicBezTo>
                  <a:lnTo>
                    <a:pt x="286" y="2590"/>
                  </a:lnTo>
                  <a:cubicBezTo>
                    <a:pt x="286" y="2447"/>
                    <a:pt x="405" y="2328"/>
                    <a:pt x="548" y="2328"/>
                  </a:cubicBezTo>
                  <a:lnTo>
                    <a:pt x="834" y="2328"/>
                  </a:lnTo>
                  <a:lnTo>
                    <a:pt x="1120" y="3066"/>
                  </a:lnTo>
                  <a:cubicBezTo>
                    <a:pt x="1155" y="3120"/>
                    <a:pt x="1204" y="3147"/>
                    <a:pt x="1257" y="3147"/>
                  </a:cubicBezTo>
                  <a:cubicBezTo>
                    <a:pt x="1274" y="3147"/>
                    <a:pt x="1292" y="3144"/>
                    <a:pt x="1310" y="3138"/>
                  </a:cubicBezTo>
                  <a:cubicBezTo>
                    <a:pt x="1382" y="3114"/>
                    <a:pt x="1429" y="3019"/>
                    <a:pt x="1405" y="2947"/>
                  </a:cubicBezTo>
                  <a:lnTo>
                    <a:pt x="953" y="1876"/>
                  </a:lnTo>
                  <a:cubicBezTo>
                    <a:pt x="929" y="1852"/>
                    <a:pt x="953" y="1804"/>
                    <a:pt x="977" y="1804"/>
                  </a:cubicBezTo>
                  <a:lnTo>
                    <a:pt x="4430" y="352"/>
                  </a:lnTo>
                  <a:close/>
                  <a:moveTo>
                    <a:pt x="4513" y="0"/>
                  </a:moveTo>
                  <a:cubicBezTo>
                    <a:pt x="4495" y="0"/>
                    <a:pt x="4477" y="6"/>
                    <a:pt x="4454" y="18"/>
                  </a:cubicBezTo>
                  <a:lnTo>
                    <a:pt x="858" y="1518"/>
                  </a:lnTo>
                  <a:cubicBezTo>
                    <a:pt x="691" y="1590"/>
                    <a:pt x="596" y="1804"/>
                    <a:pt x="667" y="1971"/>
                  </a:cubicBezTo>
                  <a:lnTo>
                    <a:pt x="691" y="2042"/>
                  </a:lnTo>
                  <a:lnTo>
                    <a:pt x="548" y="2042"/>
                  </a:lnTo>
                  <a:cubicBezTo>
                    <a:pt x="238" y="2042"/>
                    <a:pt x="0" y="2280"/>
                    <a:pt x="0" y="2590"/>
                  </a:cubicBezTo>
                  <a:lnTo>
                    <a:pt x="0" y="8972"/>
                  </a:lnTo>
                  <a:cubicBezTo>
                    <a:pt x="0" y="9472"/>
                    <a:pt x="405" y="9877"/>
                    <a:pt x="905" y="9877"/>
                  </a:cubicBezTo>
                  <a:lnTo>
                    <a:pt x="9193" y="9877"/>
                  </a:lnTo>
                  <a:cubicBezTo>
                    <a:pt x="9717" y="9877"/>
                    <a:pt x="10121" y="9472"/>
                    <a:pt x="10121" y="8972"/>
                  </a:cubicBezTo>
                  <a:lnTo>
                    <a:pt x="10121" y="4471"/>
                  </a:lnTo>
                  <a:cubicBezTo>
                    <a:pt x="10121" y="4162"/>
                    <a:pt x="9860" y="3924"/>
                    <a:pt x="9574" y="3924"/>
                  </a:cubicBezTo>
                  <a:lnTo>
                    <a:pt x="9336" y="3924"/>
                  </a:lnTo>
                  <a:lnTo>
                    <a:pt x="9336" y="1542"/>
                  </a:lnTo>
                  <a:cubicBezTo>
                    <a:pt x="9336" y="1233"/>
                    <a:pt x="9097" y="994"/>
                    <a:pt x="8788" y="994"/>
                  </a:cubicBezTo>
                  <a:lnTo>
                    <a:pt x="6716" y="994"/>
                  </a:lnTo>
                  <a:lnTo>
                    <a:pt x="6692" y="923"/>
                  </a:lnTo>
                  <a:cubicBezTo>
                    <a:pt x="6668" y="899"/>
                    <a:pt x="6645" y="852"/>
                    <a:pt x="6621" y="852"/>
                  </a:cubicBezTo>
                  <a:lnTo>
                    <a:pt x="4573" y="18"/>
                  </a:lnTo>
                  <a:cubicBezTo>
                    <a:pt x="4549" y="6"/>
                    <a:pt x="4531" y="0"/>
                    <a:pt x="4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2823;p94">
              <a:extLst>
                <a:ext uri="{FF2B5EF4-FFF2-40B4-BE49-F238E27FC236}">
                  <a16:creationId xmlns:a16="http://schemas.microsoft.com/office/drawing/2014/main" id="{06B94662-6FE6-4CF5-B934-EE5CBA83D325}"/>
                </a:ext>
              </a:extLst>
            </p:cNvPr>
            <p:cNvSpPr/>
            <p:nvPr/>
          </p:nvSpPr>
          <p:spPr>
            <a:xfrm>
              <a:off x="4123561" y="2296744"/>
              <a:ext cx="170689" cy="161818"/>
            </a:xfrm>
            <a:custGeom>
              <a:avLst/>
              <a:gdLst/>
              <a:ahLst/>
              <a:cxnLst/>
              <a:rect l="l" t="t" r="r" b="b"/>
              <a:pathLst>
                <a:path w="5074" h="4704" extrusionOk="0">
                  <a:moveTo>
                    <a:pt x="2760" y="301"/>
                  </a:moveTo>
                  <a:cubicBezTo>
                    <a:pt x="2892" y="301"/>
                    <a:pt x="3021" y="325"/>
                    <a:pt x="3144" y="370"/>
                  </a:cubicBezTo>
                  <a:cubicBezTo>
                    <a:pt x="3430" y="489"/>
                    <a:pt x="3645" y="703"/>
                    <a:pt x="3740" y="965"/>
                  </a:cubicBezTo>
                  <a:cubicBezTo>
                    <a:pt x="3859" y="1227"/>
                    <a:pt x="3859" y="1513"/>
                    <a:pt x="3764" y="1775"/>
                  </a:cubicBezTo>
                  <a:lnTo>
                    <a:pt x="3287" y="1775"/>
                  </a:lnTo>
                  <a:cubicBezTo>
                    <a:pt x="3335" y="1679"/>
                    <a:pt x="3359" y="1560"/>
                    <a:pt x="3311" y="1441"/>
                  </a:cubicBezTo>
                  <a:cubicBezTo>
                    <a:pt x="3264" y="1346"/>
                    <a:pt x="3168" y="1275"/>
                    <a:pt x="3073" y="1227"/>
                  </a:cubicBezTo>
                  <a:cubicBezTo>
                    <a:pt x="3025" y="1203"/>
                    <a:pt x="2972" y="1191"/>
                    <a:pt x="2918" y="1191"/>
                  </a:cubicBezTo>
                  <a:cubicBezTo>
                    <a:pt x="2865" y="1191"/>
                    <a:pt x="2811" y="1203"/>
                    <a:pt x="2763" y="1227"/>
                  </a:cubicBezTo>
                  <a:lnTo>
                    <a:pt x="2621" y="1298"/>
                  </a:lnTo>
                  <a:cubicBezTo>
                    <a:pt x="2607" y="1303"/>
                    <a:pt x="2594" y="1305"/>
                    <a:pt x="2581" y="1305"/>
                  </a:cubicBezTo>
                  <a:cubicBezTo>
                    <a:pt x="2524" y="1305"/>
                    <a:pt x="2473" y="1266"/>
                    <a:pt x="2454" y="1227"/>
                  </a:cubicBezTo>
                  <a:cubicBezTo>
                    <a:pt x="2430" y="1155"/>
                    <a:pt x="2478" y="1108"/>
                    <a:pt x="2525" y="1084"/>
                  </a:cubicBezTo>
                  <a:lnTo>
                    <a:pt x="2668" y="1013"/>
                  </a:lnTo>
                  <a:cubicBezTo>
                    <a:pt x="2692" y="1001"/>
                    <a:pt x="2710" y="995"/>
                    <a:pt x="2728" y="995"/>
                  </a:cubicBezTo>
                  <a:cubicBezTo>
                    <a:pt x="2746" y="995"/>
                    <a:pt x="2763" y="1001"/>
                    <a:pt x="2787" y="1013"/>
                  </a:cubicBezTo>
                  <a:cubicBezTo>
                    <a:pt x="2815" y="1031"/>
                    <a:pt x="2842" y="1039"/>
                    <a:pt x="2868" y="1039"/>
                  </a:cubicBezTo>
                  <a:cubicBezTo>
                    <a:pt x="2910" y="1039"/>
                    <a:pt x="2948" y="1018"/>
                    <a:pt x="2978" y="989"/>
                  </a:cubicBezTo>
                  <a:cubicBezTo>
                    <a:pt x="3025" y="917"/>
                    <a:pt x="3002" y="822"/>
                    <a:pt x="2954" y="774"/>
                  </a:cubicBezTo>
                  <a:cubicBezTo>
                    <a:pt x="2892" y="728"/>
                    <a:pt x="2821" y="702"/>
                    <a:pt x="2746" y="702"/>
                  </a:cubicBezTo>
                  <a:cubicBezTo>
                    <a:pt x="2705" y="702"/>
                    <a:pt x="2663" y="710"/>
                    <a:pt x="2621" y="727"/>
                  </a:cubicBezTo>
                  <a:lnTo>
                    <a:pt x="2597" y="679"/>
                  </a:lnTo>
                  <a:cubicBezTo>
                    <a:pt x="2577" y="620"/>
                    <a:pt x="2509" y="578"/>
                    <a:pt x="2446" y="578"/>
                  </a:cubicBezTo>
                  <a:cubicBezTo>
                    <a:pt x="2432" y="578"/>
                    <a:pt x="2419" y="580"/>
                    <a:pt x="2406" y="584"/>
                  </a:cubicBezTo>
                  <a:cubicBezTo>
                    <a:pt x="2335" y="632"/>
                    <a:pt x="2311" y="703"/>
                    <a:pt x="2335" y="774"/>
                  </a:cubicBezTo>
                  <a:lnTo>
                    <a:pt x="2359" y="822"/>
                  </a:lnTo>
                  <a:cubicBezTo>
                    <a:pt x="2192" y="941"/>
                    <a:pt x="2120" y="1155"/>
                    <a:pt x="2192" y="1346"/>
                  </a:cubicBezTo>
                  <a:cubicBezTo>
                    <a:pt x="2264" y="1490"/>
                    <a:pt x="2418" y="1594"/>
                    <a:pt x="2582" y="1594"/>
                  </a:cubicBezTo>
                  <a:cubicBezTo>
                    <a:pt x="2635" y="1594"/>
                    <a:pt x="2688" y="1583"/>
                    <a:pt x="2740" y="1560"/>
                  </a:cubicBezTo>
                  <a:lnTo>
                    <a:pt x="2882" y="1489"/>
                  </a:lnTo>
                  <a:lnTo>
                    <a:pt x="2978" y="1489"/>
                  </a:lnTo>
                  <a:cubicBezTo>
                    <a:pt x="3002" y="1513"/>
                    <a:pt x="3025" y="1537"/>
                    <a:pt x="3025" y="1560"/>
                  </a:cubicBezTo>
                  <a:cubicBezTo>
                    <a:pt x="3049" y="1608"/>
                    <a:pt x="3025" y="1679"/>
                    <a:pt x="2978" y="1703"/>
                  </a:cubicBezTo>
                  <a:lnTo>
                    <a:pt x="2811" y="1775"/>
                  </a:lnTo>
                  <a:lnTo>
                    <a:pt x="2763" y="1775"/>
                  </a:lnTo>
                  <a:cubicBezTo>
                    <a:pt x="2740" y="1775"/>
                    <a:pt x="2716" y="1775"/>
                    <a:pt x="2692" y="1751"/>
                  </a:cubicBezTo>
                  <a:cubicBezTo>
                    <a:pt x="2668" y="1715"/>
                    <a:pt x="2632" y="1697"/>
                    <a:pt x="2594" y="1697"/>
                  </a:cubicBezTo>
                  <a:cubicBezTo>
                    <a:pt x="2555" y="1697"/>
                    <a:pt x="2513" y="1715"/>
                    <a:pt x="2478" y="1751"/>
                  </a:cubicBezTo>
                  <a:cubicBezTo>
                    <a:pt x="2478" y="1751"/>
                    <a:pt x="2478" y="1775"/>
                    <a:pt x="2454" y="1775"/>
                  </a:cubicBezTo>
                  <a:lnTo>
                    <a:pt x="1739" y="1775"/>
                  </a:lnTo>
                  <a:cubicBezTo>
                    <a:pt x="1620" y="1513"/>
                    <a:pt x="1620" y="1227"/>
                    <a:pt x="1739" y="965"/>
                  </a:cubicBezTo>
                  <a:cubicBezTo>
                    <a:pt x="1835" y="703"/>
                    <a:pt x="2049" y="489"/>
                    <a:pt x="2311" y="393"/>
                  </a:cubicBezTo>
                  <a:cubicBezTo>
                    <a:pt x="2462" y="331"/>
                    <a:pt x="2613" y="301"/>
                    <a:pt x="2760" y="301"/>
                  </a:cubicBezTo>
                  <a:close/>
                  <a:moveTo>
                    <a:pt x="2740" y="0"/>
                  </a:moveTo>
                  <a:cubicBezTo>
                    <a:pt x="2561" y="0"/>
                    <a:pt x="2382" y="36"/>
                    <a:pt x="2216" y="108"/>
                  </a:cubicBezTo>
                  <a:cubicBezTo>
                    <a:pt x="1858" y="251"/>
                    <a:pt x="1596" y="512"/>
                    <a:pt x="1454" y="846"/>
                  </a:cubicBezTo>
                  <a:cubicBezTo>
                    <a:pt x="1335" y="1155"/>
                    <a:pt x="1311" y="1489"/>
                    <a:pt x="1406" y="1775"/>
                  </a:cubicBezTo>
                  <a:lnTo>
                    <a:pt x="739" y="1775"/>
                  </a:lnTo>
                  <a:cubicBezTo>
                    <a:pt x="644" y="1775"/>
                    <a:pt x="572" y="1798"/>
                    <a:pt x="501" y="1822"/>
                  </a:cubicBezTo>
                  <a:lnTo>
                    <a:pt x="311" y="1394"/>
                  </a:lnTo>
                  <a:cubicBezTo>
                    <a:pt x="293" y="1342"/>
                    <a:pt x="239" y="1303"/>
                    <a:pt x="183" y="1303"/>
                  </a:cubicBezTo>
                  <a:cubicBezTo>
                    <a:pt x="162" y="1303"/>
                    <a:pt x="140" y="1309"/>
                    <a:pt x="120" y="1322"/>
                  </a:cubicBezTo>
                  <a:cubicBezTo>
                    <a:pt x="49" y="1346"/>
                    <a:pt x="1" y="1441"/>
                    <a:pt x="49" y="1513"/>
                  </a:cubicBezTo>
                  <a:lnTo>
                    <a:pt x="263" y="2037"/>
                  </a:lnTo>
                  <a:cubicBezTo>
                    <a:pt x="215" y="2132"/>
                    <a:pt x="191" y="2227"/>
                    <a:pt x="191" y="2322"/>
                  </a:cubicBezTo>
                  <a:lnTo>
                    <a:pt x="191" y="4537"/>
                  </a:lnTo>
                  <a:cubicBezTo>
                    <a:pt x="191" y="4632"/>
                    <a:pt x="263" y="4704"/>
                    <a:pt x="334" y="4704"/>
                  </a:cubicBezTo>
                  <a:cubicBezTo>
                    <a:pt x="430" y="4704"/>
                    <a:pt x="501" y="4632"/>
                    <a:pt x="501" y="4537"/>
                  </a:cubicBezTo>
                  <a:lnTo>
                    <a:pt x="501" y="2322"/>
                  </a:lnTo>
                  <a:cubicBezTo>
                    <a:pt x="501" y="2179"/>
                    <a:pt x="596" y="2084"/>
                    <a:pt x="739" y="2084"/>
                  </a:cubicBezTo>
                  <a:lnTo>
                    <a:pt x="4907" y="2084"/>
                  </a:lnTo>
                  <a:cubicBezTo>
                    <a:pt x="5002" y="2084"/>
                    <a:pt x="5073" y="2013"/>
                    <a:pt x="5073" y="1918"/>
                  </a:cubicBezTo>
                  <a:cubicBezTo>
                    <a:pt x="5073" y="1846"/>
                    <a:pt x="5002" y="1775"/>
                    <a:pt x="4907" y="1775"/>
                  </a:cubicBezTo>
                  <a:lnTo>
                    <a:pt x="4073" y="1775"/>
                  </a:lnTo>
                  <a:cubicBezTo>
                    <a:pt x="4168" y="1465"/>
                    <a:pt x="4145" y="1155"/>
                    <a:pt x="4026" y="846"/>
                  </a:cubicBezTo>
                  <a:cubicBezTo>
                    <a:pt x="3883" y="512"/>
                    <a:pt x="3597" y="251"/>
                    <a:pt x="3264" y="108"/>
                  </a:cubicBezTo>
                  <a:cubicBezTo>
                    <a:pt x="3097" y="36"/>
                    <a:pt x="2918" y="0"/>
                    <a:pt x="2740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2824;p94">
              <a:extLst>
                <a:ext uri="{FF2B5EF4-FFF2-40B4-BE49-F238E27FC236}">
                  <a16:creationId xmlns:a16="http://schemas.microsoft.com/office/drawing/2014/main" id="{02B037F2-DC45-4341-8A79-CB3209AED39D}"/>
                </a:ext>
              </a:extLst>
            </p:cNvPr>
            <p:cNvSpPr/>
            <p:nvPr/>
          </p:nvSpPr>
          <p:spPr>
            <a:xfrm>
              <a:off x="4130793" y="2276448"/>
              <a:ext cx="47298" cy="25662"/>
            </a:xfrm>
            <a:custGeom>
              <a:avLst/>
              <a:gdLst/>
              <a:ahLst/>
              <a:cxnLst/>
              <a:rect l="l" t="t" r="r" b="b"/>
              <a:pathLst>
                <a:path w="1406" h="746" extrusionOk="0">
                  <a:moveTo>
                    <a:pt x="1207" y="1"/>
                  </a:moveTo>
                  <a:cubicBezTo>
                    <a:pt x="1193" y="1"/>
                    <a:pt x="1180" y="3"/>
                    <a:pt x="1167" y="7"/>
                  </a:cubicBezTo>
                  <a:lnTo>
                    <a:pt x="119" y="460"/>
                  </a:lnTo>
                  <a:cubicBezTo>
                    <a:pt x="48" y="483"/>
                    <a:pt x="0" y="579"/>
                    <a:pt x="24" y="650"/>
                  </a:cubicBezTo>
                  <a:cubicBezTo>
                    <a:pt x="48" y="721"/>
                    <a:pt x="119" y="745"/>
                    <a:pt x="167" y="745"/>
                  </a:cubicBezTo>
                  <a:lnTo>
                    <a:pt x="215" y="745"/>
                  </a:lnTo>
                  <a:lnTo>
                    <a:pt x="1286" y="293"/>
                  </a:lnTo>
                  <a:cubicBezTo>
                    <a:pt x="1358" y="269"/>
                    <a:pt x="1405" y="174"/>
                    <a:pt x="1358" y="102"/>
                  </a:cubicBezTo>
                  <a:cubicBezTo>
                    <a:pt x="1338" y="44"/>
                    <a:pt x="1270" y="1"/>
                    <a:pt x="120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2825;p94">
              <a:extLst>
                <a:ext uri="{FF2B5EF4-FFF2-40B4-BE49-F238E27FC236}">
                  <a16:creationId xmlns:a16="http://schemas.microsoft.com/office/drawing/2014/main" id="{C50B4741-907E-42DE-BA0B-3176B42ED322}"/>
                </a:ext>
              </a:extLst>
            </p:cNvPr>
            <p:cNvSpPr/>
            <p:nvPr/>
          </p:nvSpPr>
          <p:spPr>
            <a:xfrm>
              <a:off x="4137992" y="2301423"/>
              <a:ext cx="25667" cy="16237"/>
            </a:xfrm>
            <a:custGeom>
              <a:avLst/>
              <a:gdLst/>
              <a:ahLst/>
              <a:cxnLst/>
              <a:rect l="l" t="t" r="r" b="b"/>
              <a:pathLst>
                <a:path w="763" h="472" extrusionOk="0">
                  <a:moveTo>
                    <a:pt x="599" y="0"/>
                  </a:moveTo>
                  <a:cubicBezTo>
                    <a:pt x="576" y="0"/>
                    <a:pt x="551" y="6"/>
                    <a:pt x="525" y="19"/>
                  </a:cubicBezTo>
                  <a:lnTo>
                    <a:pt x="96" y="186"/>
                  </a:lnTo>
                  <a:cubicBezTo>
                    <a:pt x="24" y="234"/>
                    <a:pt x="1" y="305"/>
                    <a:pt x="24" y="376"/>
                  </a:cubicBezTo>
                  <a:cubicBezTo>
                    <a:pt x="48" y="448"/>
                    <a:pt x="96" y="472"/>
                    <a:pt x="167" y="472"/>
                  </a:cubicBezTo>
                  <a:lnTo>
                    <a:pt x="215" y="472"/>
                  </a:lnTo>
                  <a:lnTo>
                    <a:pt x="644" y="281"/>
                  </a:lnTo>
                  <a:cubicBezTo>
                    <a:pt x="715" y="257"/>
                    <a:pt x="763" y="162"/>
                    <a:pt x="739" y="91"/>
                  </a:cubicBezTo>
                  <a:cubicBezTo>
                    <a:pt x="705" y="39"/>
                    <a:pt x="658" y="0"/>
                    <a:pt x="599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2826;p94">
              <a:extLst>
                <a:ext uri="{FF2B5EF4-FFF2-40B4-BE49-F238E27FC236}">
                  <a16:creationId xmlns:a16="http://schemas.microsoft.com/office/drawing/2014/main" id="{36AB534A-DCD7-4445-B575-A5862273CEB8}"/>
                </a:ext>
              </a:extLst>
            </p:cNvPr>
            <p:cNvSpPr/>
            <p:nvPr/>
          </p:nvSpPr>
          <p:spPr>
            <a:xfrm>
              <a:off x="4161237" y="2507685"/>
              <a:ext cx="35288" cy="9873"/>
            </a:xfrm>
            <a:custGeom>
              <a:avLst/>
              <a:gdLst/>
              <a:ahLst/>
              <a:cxnLst/>
              <a:rect l="l" t="t" r="r" b="b"/>
              <a:pathLst>
                <a:path w="1049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6"/>
                    <a:pt x="143" y="286"/>
                  </a:cubicBezTo>
                  <a:lnTo>
                    <a:pt x="905" y="286"/>
                  </a:lnTo>
                  <a:cubicBezTo>
                    <a:pt x="977" y="286"/>
                    <a:pt x="1048" y="215"/>
                    <a:pt x="1048" y="144"/>
                  </a:cubicBezTo>
                  <a:cubicBezTo>
                    <a:pt x="1048" y="48"/>
                    <a:pt x="977" y="1"/>
                    <a:pt x="90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2827;p94">
              <a:extLst>
                <a:ext uri="{FF2B5EF4-FFF2-40B4-BE49-F238E27FC236}">
                  <a16:creationId xmlns:a16="http://schemas.microsoft.com/office/drawing/2014/main" id="{B5DD2815-B50D-4491-A04C-6F99AB0237E5}"/>
                </a:ext>
              </a:extLst>
            </p:cNvPr>
            <p:cNvSpPr/>
            <p:nvPr/>
          </p:nvSpPr>
          <p:spPr>
            <a:xfrm>
              <a:off x="4161237" y="2525711"/>
              <a:ext cx="81745" cy="10698"/>
            </a:xfrm>
            <a:custGeom>
              <a:avLst/>
              <a:gdLst/>
              <a:ahLst/>
              <a:cxnLst/>
              <a:rect l="l" t="t" r="r" b="b"/>
              <a:pathLst>
                <a:path w="2430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86" y="310"/>
                  </a:lnTo>
                  <a:cubicBezTo>
                    <a:pt x="2358" y="310"/>
                    <a:pt x="2429" y="239"/>
                    <a:pt x="2429" y="143"/>
                  </a:cubicBezTo>
                  <a:cubicBezTo>
                    <a:pt x="2429" y="72"/>
                    <a:pt x="2358" y="1"/>
                    <a:pt x="2286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4" name="Google Shape;2805;p94">
            <a:extLst>
              <a:ext uri="{FF2B5EF4-FFF2-40B4-BE49-F238E27FC236}">
                <a16:creationId xmlns:a16="http://schemas.microsoft.com/office/drawing/2014/main" id="{5E434E9D-30AC-45F0-A79E-53D93704F0BF}"/>
              </a:ext>
            </a:extLst>
          </p:cNvPr>
          <p:cNvGrpSpPr/>
          <p:nvPr/>
        </p:nvGrpSpPr>
        <p:grpSpPr>
          <a:xfrm>
            <a:off x="9757324" y="1749715"/>
            <a:ext cx="738604" cy="694944"/>
            <a:chOff x="4754041" y="2231625"/>
            <a:chExt cx="340538" cy="322810"/>
          </a:xfrm>
        </p:grpSpPr>
        <p:sp>
          <p:nvSpPr>
            <p:cNvPr id="98" name="Google Shape;2806;p94">
              <a:extLst>
                <a:ext uri="{FF2B5EF4-FFF2-40B4-BE49-F238E27FC236}">
                  <a16:creationId xmlns:a16="http://schemas.microsoft.com/office/drawing/2014/main" id="{DF5EB72A-9714-47B1-AA38-FD4B1CF31477}"/>
                </a:ext>
              </a:extLst>
            </p:cNvPr>
            <p:cNvSpPr/>
            <p:nvPr/>
          </p:nvSpPr>
          <p:spPr>
            <a:xfrm>
              <a:off x="4754041" y="2231625"/>
              <a:ext cx="340538" cy="322810"/>
            </a:xfrm>
            <a:custGeom>
              <a:avLst/>
              <a:gdLst/>
              <a:ahLst/>
              <a:cxnLst/>
              <a:rect l="l" t="t" r="r" b="b"/>
              <a:pathLst>
                <a:path w="10123" h="9384" extrusionOk="0">
                  <a:moveTo>
                    <a:pt x="5073" y="8550"/>
                  </a:moveTo>
                  <a:cubicBezTo>
                    <a:pt x="5216" y="8550"/>
                    <a:pt x="5335" y="8669"/>
                    <a:pt x="5335" y="8812"/>
                  </a:cubicBezTo>
                  <a:cubicBezTo>
                    <a:pt x="5335" y="8954"/>
                    <a:pt x="5216" y="9097"/>
                    <a:pt x="5073" y="9097"/>
                  </a:cubicBezTo>
                  <a:cubicBezTo>
                    <a:pt x="4907" y="9097"/>
                    <a:pt x="4788" y="8954"/>
                    <a:pt x="4788" y="8812"/>
                  </a:cubicBezTo>
                  <a:cubicBezTo>
                    <a:pt x="4788" y="8669"/>
                    <a:pt x="4907" y="8550"/>
                    <a:pt x="5073" y="8550"/>
                  </a:cubicBezTo>
                  <a:close/>
                  <a:moveTo>
                    <a:pt x="358" y="0"/>
                  </a:moveTo>
                  <a:cubicBezTo>
                    <a:pt x="168" y="0"/>
                    <a:pt x="1" y="167"/>
                    <a:pt x="1" y="357"/>
                  </a:cubicBezTo>
                  <a:lnTo>
                    <a:pt x="1" y="953"/>
                  </a:lnTo>
                  <a:cubicBezTo>
                    <a:pt x="1" y="1143"/>
                    <a:pt x="144" y="1286"/>
                    <a:pt x="334" y="1286"/>
                  </a:cubicBezTo>
                  <a:lnTo>
                    <a:pt x="334" y="5168"/>
                  </a:lnTo>
                  <a:cubicBezTo>
                    <a:pt x="334" y="5239"/>
                    <a:pt x="406" y="5311"/>
                    <a:pt x="477" y="5311"/>
                  </a:cubicBezTo>
                  <a:cubicBezTo>
                    <a:pt x="572" y="5311"/>
                    <a:pt x="644" y="5263"/>
                    <a:pt x="644" y="5168"/>
                  </a:cubicBezTo>
                  <a:lnTo>
                    <a:pt x="644" y="1286"/>
                  </a:lnTo>
                  <a:lnTo>
                    <a:pt x="7741" y="1286"/>
                  </a:lnTo>
                  <a:cubicBezTo>
                    <a:pt x="7812" y="1286"/>
                    <a:pt x="7884" y="1239"/>
                    <a:pt x="7884" y="1143"/>
                  </a:cubicBezTo>
                  <a:cubicBezTo>
                    <a:pt x="7884" y="1072"/>
                    <a:pt x="7812" y="1000"/>
                    <a:pt x="7741" y="1000"/>
                  </a:cubicBezTo>
                  <a:lnTo>
                    <a:pt x="358" y="1000"/>
                  </a:lnTo>
                  <a:cubicBezTo>
                    <a:pt x="334" y="1000"/>
                    <a:pt x="311" y="977"/>
                    <a:pt x="311" y="953"/>
                  </a:cubicBezTo>
                  <a:lnTo>
                    <a:pt x="311" y="357"/>
                  </a:lnTo>
                  <a:cubicBezTo>
                    <a:pt x="311" y="310"/>
                    <a:pt x="334" y="286"/>
                    <a:pt x="358" y="286"/>
                  </a:cubicBezTo>
                  <a:lnTo>
                    <a:pt x="9789" y="286"/>
                  </a:lnTo>
                  <a:cubicBezTo>
                    <a:pt x="9812" y="286"/>
                    <a:pt x="9836" y="334"/>
                    <a:pt x="9836" y="357"/>
                  </a:cubicBezTo>
                  <a:lnTo>
                    <a:pt x="9836" y="953"/>
                  </a:lnTo>
                  <a:cubicBezTo>
                    <a:pt x="9836" y="977"/>
                    <a:pt x="9812" y="1000"/>
                    <a:pt x="9789" y="1000"/>
                  </a:cubicBezTo>
                  <a:lnTo>
                    <a:pt x="8407" y="1000"/>
                  </a:lnTo>
                  <a:cubicBezTo>
                    <a:pt x="8312" y="1000"/>
                    <a:pt x="8241" y="1072"/>
                    <a:pt x="8241" y="1143"/>
                  </a:cubicBezTo>
                  <a:cubicBezTo>
                    <a:pt x="8241" y="1239"/>
                    <a:pt x="8312" y="1286"/>
                    <a:pt x="8407" y="1286"/>
                  </a:cubicBezTo>
                  <a:lnTo>
                    <a:pt x="9503" y="1286"/>
                  </a:lnTo>
                  <a:lnTo>
                    <a:pt x="9503" y="7335"/>
                  </a:lnTo>
                  <a:cubicBezTo>
                    <a:pt x="9503" y="7359"/>
                    <a:pt x="9479" y="7383"/>
                    <a:pt x="9455" y="7383"/>
                  </a:cubicBezTo>
                  <a:lnTo>
                    <a:pt x="692" y="7383"/>
                  </a:lnTo>
                  <a:cubicBezTo>
                    <a:pt x="668" y="7383"/>
                    <a:pt x="644" y="7359"/>
                    <a:pt x="644" y="7335"/>
                  </a:cubicBezTo>
                  <a:lnTo>
                    <a:pt x="644" y="5835"/>
                  </a:lnTo>
                  <a:cubicBezTo>
                    <a:pt x="644" y="5740"/>
                    <a:pt x="572" y="5692"/>
                    <a:pt x="477" y="5692"/>
                  </a:cubicBezTo>
                  <a:cubicBezTo>
                    <a:pt x="406" y="5692"/>
                    <a:pt x="334" y="5740"/>
                    <a:pt x="334" y="5835"/>
                  </a:cubicBezTo>
                  <a:lnTo>
                    <a:pt x="334" y="7335"/>
                  </a:lnTo>
                  <a:cubicBezTo>
                    <a:pt x="334" y="7526"/>
                    <a:pt x="501" y="7668"/>
                    <a:pt x="692" y="7668"/>
                  </a:cubicBezTo>
                  <a:lnTo>
                    <a:pt x="4907" y="7668"/>
                  </a:lnTo>
                  <a:lnTo>
                    <a:pt x="4907" y="8264"/>
                  </a:lnTo>
                  <a:cubicBezTo>
                    <a:pt x="4669" y="8335"/>
                    <a:pt x="4502" y="8550"/>
                    <a:pt x="4502" y="8812"/>
                  </a:cubicBezTo>
                  <a:cubicBezTo>
                    <a:pt x="4502" y="9121"/>
                    <a:pt x="4740" y="9383"/>
                    <a:pt x="5073" y="9383"/>
                  </a:cubicBezTo>
                  <a:cubicBezTo>
                    <a:pt x="5383" y="9383"/>
                    <a:pt x="5621" y="9121"/>
                    <a:pt x="5621" y="8812"/>
                  </a:cubicBezTo>
                  <a:cubicBezTo>
                    <a:pt x="5621" y="8550"/>
                    <a:pt x="5454" y="8335"/>
                    <a:pt x="5216" y="8264"/>
                  </a:cubicBezTo>
                  <a:lnTo>
                    <a:pt x="5216" y="7668"/>
                  </a:lnTo>
                  <a:lnTo>
                    <a:pt x="9431" y="7668"/>
                  </a:lnTo>
                  <a:cubicBezTo>
                    <a:pt x="9622" y="7668"/>
                    <a:pt x="9789" y="7526"/>
                    <a:pt x="9789" y="7335"/>
                  </a:cubicBezTo>
                  <a:lnTo>
                    <a:pt x="9789" y="1286"/>
                  </a:lnTo>
                  <a:cubicBezTo>
                    <a:pt x="9979" y="1286"/>
                    <a:pt x="10122" y="1143"/>
                    <a:pt x="10122" y="953"/>
                  </a:cubicBezTo>
                  <a:lnTo>
                    <a:pt x="10122" y="357"/>
                  </a:lnTo>
                  <a:cubicBezTo>
                    <a:pt x="10122" y="167"/>
                    <a:pt x="9979" y="0"/>
                    <a:pt x="9789" y="0"/>
                  </a:cubicBezTo>
                  <a:close/>
                </a:path>
              </a:pathLst>
            </a:custGeom>
            <a:solidFill>
              <a:srgbClr val="FD0C5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" name="Google Shape;2807;p94">
              <a:extLst>
                <a:ext uri="{FF2B5EF4-FFF2-40B4-BE49-F238E27FC236}">
                  <a16:creationId xmlns:a16="http://schemas.microsoft.com/office/drawing/2014/main" id="{03D26D72-6983-4EF2-8819-908F4C3C60E4}"/>
                </a:ext>
              </a:extLst>
            </p:cNvPr>
            <p:cNvSpPr/>
            <p:nvPr/>
          </p:nvSpPr>
          <p:spPr>
            <a:xfrm>
              <a:off x="5011219" y="2437234"/>
              <a:ext cx="45683" cy="9873"/>
            </a:xfrm>
            <a:custGeom>
              <a:avLst/>
              <a:gdLst/>
              <a:ahLst/>
              <a:cxnLst/>
              <a:rect l="l" t="t" r="r" b="b"/>
              <a:pathLst>
                <a:path w="1358" h="287" extrusionOk="0">
                  <a:moveTo>
                    <a:pt x="167" y="1"/>
                  </a:moveTo>
                  <a:cubicBezTo>
                    <a:pt x="72" y="1"/>
                    <a:pt x="0" y="72"/>
                    <a:pt x="0" y="144"/>
                  </a:cubicBezTo>
                  <a:cubicBezTo>
                    <a:pt x="0" y="239"/>
                    <a:pt x="72" y="286"/>
                    <a:pt x="167" y="286"/>
                  </a:cubicBezTo>
                  <a:lnTo>
                    <a:pt x="1191" y="286"/>
                  </a:lnTo>
                  <a:cubicBezTo>
                    <a:pt x="1286" y="286"/>
                    <a:pt x="1358" y="239"/>
                    <a:pt x="1358" y="144"/>
                  </a:cubicBezTo>
                  <a:cubicBezTo>
                    <a:pt x="1334" y="72"/>
                    <a:pt x="1286" y="1"/>
                    <a:pt x="119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" name="Google Shape;2808;p94">
              <a:extLst>
                <a:ext uri="{FF2B5EF4-FFF2-40B4-BE49-F238E27FC236}">
                  <a16:creationId xmlns:a16="http://schemas.microsoft.com/office/drawing/2014/main" id="{F73A84BD-EA2A-4D95-A6B3-BA2F7CC3FA17}"/>
                </a:ext>
              </a:extLst>
            </p:cNvPr>
            <p:cNvSpPr/>
            <p:nvPr/>
          </p:nvSpPr>
          <p:spPr>
            <a:xfrm>
              <a:off x="4976772" y="2455259"/>
              <a:ext cx="80130" cy="10698"/>
            </a:xfrm>
            <a:custGeom>
              <a:avLst/>
              <a:gdLst/>
              <a:ahLst/>
              <a:cxnLst/>
              <a:rect l="l" t="t" r="r" b="b"/>
              <a:pathLst>
                <a:path w="2382" h="311" extrusionOk="0">
                  <a:moveTo>
                    <a:pt x="143" y="1"/>
                  </a:moveTo>
                  <a:cubicBezTo>
                    <a:pt x="72" y="1"/>
                    <a:pt x="0" y="72"/>
                    <a:pt x="0" y="143"/>
                  </a:cubicBezTo>
                  <a:cubicBezTo>
                    <a:pt x="0" y="239"/>
                    <a:pt x="72" y="310"/>
                    <a:pt x="143" y="310"/>
                  </a:cubicBezTo>
                  <a:lnTo>
                    <a:pt x="2215" y="310"/>
                  </a:lnTo>
                  <a:cubicBezTo>
                    <a:pt x="2310" y="310"/>
                    <a:pt x="2382" y="239"/>
                    <a:pt x="2382" y="143"/>
                  </a:cubicBezTo>
                  <a:cubicBezTo>
                    <a:pt x="2382" y="72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" name="Google Shape;2809;p94">
              <a:extLst>
                <a:ext uri="{FF2B5EF4-FFF2-40B4-BE49-F238E27FC236}">
                  <a16:creationId xmlns:a16="http://schemas.microsoft.com/office/drawing/2014/main" id="{790C7646-D6B3-419D-BDF3-09F1AA2B3135}"/>
                </a:ext>
              </a:extLst>
            </p:cNvPr>
            <p:cNvSpPr/>
            <p:nvPr/>
          </p:nvSpPr>
          <p:spPr>
            <a:xfrm>
              <a:off x="4976772" y="2302902"/>
              <a:ext cx="16854" cy="10664"/>
            </a:xfrm>
            <a:custGeom>
              <a:avLst/>
              <a:gdLst/>
              <a:ahLst/>
              <a:cxnLst/>
              <a:rect l="l" t="t" r="r" b="b"/>
              <a:pathLst>
                <a:path w="501" h="310" extrusionOk="0">
                  <a:moveTo>
                    <a:pt x="143" y="0"/>
                  </a:moveTo>
                  <a:cubicBezTo>
                    <a:pt x="72" y="0"/>
                    <a:pt x="0" y="72"/>
                    <a:pt x="0" y="143"/>
                  </a:cubicBezTo>
                  <a:cubicBezTo>
                    <a:pt x="0" y="238"/>
                    <a:pt x="72" y="310"/>
                    <a:pt x="143" y="310"/>
                  </a:cubicBezTo>
                  <a:lnTo>
                    <a:pt x="334" y="310"/>
                  </a:lnTo>
                  <a:cubicBezTo>
                    <a:pt x="429" y="310"/>
                    <a:pt x="500" y="238"/>
                    <a:pt x="500" y="143"/>
                  </a:cubicBezTo>
                  <a:cubicBezTo>
                    <a:pt x="500" y="72"/>
                    <a:pt x="429" y="0"/>
                    <a:pt x="334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" name="Google Shape;2810;p94">
              <a:extLst>
                <a:ext uri="{FF2B5EF4-FFF2-40B4-BE49-F238E27FC236}">
                  <a16:creationId xmlns:a16="http://schemas.microsoft.com/office/drawing/2014/main" id="{8FB3E07A-5D5E-4301-807A-B5A2E27785E1}"/>
                </a:ext>
              </a:extLst>
            </p:cNvPr>
            <p:cNvSpPr/>
            <p:nvPr/>
          </p:nvSpPr>
          <p:spPr>
            <a:xfrm>
              <a:off x="5001598" y="2302902"/>
              <a:ext cx="55304" cy="10664"/>
            </a:xfrm>
            <a:custGeom>
              <a:avLst/>
              <a:gdLst/>
              <a:ahLst/>
              <a:cxnLst/>
              <a:rect l="l" t="t" r="r" b="b"/>
              <a:pathLst>
                <a:path w="1644" h="310" extrusionOk="0">
                  <a:moveTo>
                    <a:pt x="143" y="0"/>
                  </a:moveTo>
                  <a:cubicBezTo>
                    <a:pt x="72" y="0"/>
                    <a:pt x="1" y="72"/>
                    <a:pt x="1" y="143"/>
                  </a:cubicBezTo>
                  <a:cubicBezTo>
                    <a:pt x="1" y="238"/>
                    <a:pt x="72" y="310"/>
                    <a:pt x="143" y="310"/>
                  </a:cubicBezTo>
                  <a:lnTo>
                    <a:pt x="1477" y="310"/>
                  </a:lnTo>
                  <a:cubicBezTo>
                    <a:pt x="1572" y="310"/>
                    <a:pt x="1644" y="238"/>
                    <a:pt x="1644" y="143"/>
                  </a:cubicBezTo>
                  <a:cubicBezTo>
                    <a:pt x="1644" y="72"/>
                    <a:pt x="1572" y="0"/>
                    <a:pt x="1477" y="0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" name="Google Shape;2811;p94">
              <a:extLst>
                <a:ext uri="{FF2B5EF4-FFF2-40B4-BE49-F238E27FC236}">
                  <a16:creationId xmlns:a16="http://schemas.microsoft.com/office/drawing/2014/main" id="{EC9E0779-D157-4AE3-A4AE-1572197E3A61}"/>
                </a:ext>
              </a:extLst>
            </p:cNvPr>
            <p:cNvSpPr/>
            <p:nvPr/>
          </p:nvSpPr>
          <p:spPr>
            <a:xfrm>
              <a:off x="4976772" y="2321719"/>
              <a:ext cx="80130" cy="9873"/>
            </a:xfrm>
            <a:custGeom>
              <a:avLst/>
              <a:gdLst/>
              <a:ahLst/>
              <a:cxnLst/>
              <a:rect l="l" t="t" r="r" b="b"/>
              <a:pathLst>
                <a:path w="2382" h="287" extrusionOk="0">
                  <a:moveTo>
                    <a:pt x="143" y="1"/>
                  </a:moveTo>
                  <a:cubicBezTo>
                    <a:pt x="72" y="1"/>
                    <a:pt x="0" y="48"/>
                    <a:pt x="0" y="144"/>
                  </a:cubicBezTo>
                  <a:cubicBezTo>
                    <a:pt x="0" y="215"/>
                    <a:pt x="72" y="287"/>
                    <a:pt x="143" y="287"/>
                  </a:cubicBezTo>
                  <a:lnTo>
                    <a:pt x="2215" y="287"/>
                  </a:lnTo>
                  <a:cubicBezTo>
                    <a:pt x="2310" y="287"/>
                    <a:pt x="2382" y="215"/>
                    <a:pt x="2382" y="144"/>
                  </a:cubicBezTo>
                  <a:cubicBezTo>
                    <a:pt x="2382" y="48"/>
                    <a:pt x="2310" y="1"/>
                    <a:pt x="2215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" name="Google Shape;2812;p94">
              <a:extLst>
                <a:ext uri="{FF2B5EF4-FFF2-40B4-BE49-F238E27FC236}">
                  <a16:creationId xmlns:a16="http://schemas.microsoft.com/office/drawing/2014/main" id="{BCFE82E2-ACAF-448C-87DF-5498486058B1}"/>
                </a:ext>
              </a:extLst>
            </p:cNvPr>
            <p:cNvSpPr/>
            <p:nvPr/>
          </p:nvSpPr>
          <p:spPr>
            <a:xfrm>
              <a:off x="4976772" y="2352025"/>
              <a:ext cx="80130" cy="65601"/>
            </a:xfrm>
            <a:custGeom>
              <a:avLst/>
              <a:gdLst/>
              <a:ahLst/>
              <a:cxnLst/>
              <a:rect l="l" t="t" r="r" b="b"/>
              <a:pathLst>
                <a:path w="2382" h="1907" extrusionOk="0">
                  <a:moveTo>
                    <a:pt x="143" y="1"/>
                  </a:moveTo>
                  <a:cubicBezTo>
                    <a:pt x="48" y="1"/>
                    <a:pt x="0" y="49"/>
                    <a:pt x="0" y="144"/>
                  </a:cubicBezTo>
                  <a:lnTo>
                    <a:pt x="0" y="1763"/>
                  </a:lnTo>
                  <a:cubicBezTo>
                    <a:pt x="0" y="1835"/>
                    <a:pt x="72" y="1906"/>
                    <a:pt x="143" y="1906"/>
                  </a:cubicBezTo>
                  <a:lnTo>
                    <a:pt x="2215" y="1906"/>
                  </a:lnTo>
                  <a:cubicBezTo>
                    <a:pt x="2310" y="1906"/>
                    <a:pt x="2382" y="1835"/>
                    <a:pt x="2382" y="1763"/>
                  </a:cubicBezTo>
                  <a:cubicBezTo>
                    <a:pt x="2382" y="1668"/>
                    <a:pt x="2310" y="1597"/>
                    <a:pt x="2215" y="1597"/>
                  </a:cubicBezTo>
                  <a:lnTo>
                    <a:pt x="1858" y="1597"/>
                  </a:lnTo>
                  <a:lnTo>
                    <a:pt x="1858" y="311"/>
                  </a:lnTo>
                  <a:cubicBezTo>
                    <a:pt x="1858" y="239"/>
                    <a:pt x="1786" y="168"/>
                    <a:pt x="1715" y="168"/>
                  </a:cubicBezTo>
                  <a:cubicBezTo>
                    <a:pt x="1644" y="168"/>
                    <a:pt x="1572" y="239"/>
                    <a:pt x="1572" y="311"/>
                  </a:cubicBezTo>
                  <a:lnTo>
                    <a:pt x="1572" y="1597"/>
                  </a:lnTo>
                  <a:lnTo>
                    <a:pt x="1334" y="1597"/>
                  </a:lnTo>
                  <a:lnTo>
                    <a:pt x="1334" y="1120"/>
                  </a:lnTo>
                  <a:cubicBezTo>
                    <a:pt x="1334" y="1049"/>
                    <a:pt x="1263" y="977"/>
                    <a:pt x="1191" y="977"/>
                  </a:cubicBezTo>
                  <a:cubicBezTo>
                    <a:pt x="1096" y="977"/>
                    <a:pt x="1024" y="1049"/>
                    <a:pt x="1024" y="1120"/>
                  </a:cubicBezTo>
                  <a:lnTo>
                    <a:pt x="1024" y="1597"/>
                  </a:lnTo>
                  <a:lnTo>
                    <a:pt x="786" y="1597"/>
                  </a:lnTo>
                  <a:lnTo>
                    <a:pt x="786" y="763"/>
                  </a:lnTo>
                  <a:cubicBezTo>
                    <a:pt x="786" y="668"/>
                    <a:pt x="739" y="596"/>
                    <a:pt x="643" y="596"/>
                  </a:cubicBezTo>
                  <a:cubicBezTo>
                    <a:pt x="572" y="596"/>
                    <a:pt x="500" y="668"/>
                    <a:pt x="500" y="763"/>
                  </a:cubicBezTo>
                  <a:lnTo>
                    <a:pt x="500" y="1597"/>
                  </a:lnTo>
                  <a:lnTo>
                    <a:pt x="286" y="1597"/>
                  </a:lnTo>
                  <a:lnTo>
                    <a:pt x="286" y="144"/>
                  </a:lnTo>
                  <a:cubicBezTo>
                    <a:pt x="286" y="72"/>
                    <a:pt x="215" y="1"/>
                    <a:pt x="143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" name="Google Shape;2813;p94">
              <a:extLst>
                <a:ext uri="{FF2B5EF4-FFF2-40B4-BE49-F238E27FC236}">
                  <a16:creationId xmlns:a16="http://schemas.microsoft.com/office/drawing/2014/main" id="{FC69A224-7204-4F13-827A-8F6CFF13CA93}"/>
                </a:ext>
              </a:extLst>
            </p:cNvPr>
            <p:cNvSpPr/>
            <p:nvPr/>
          </p:nvSpPr>
          <p:spPr>
            <a:xfrm>
              <a:off x="4789296" y="2294680"/>
              <a:ext cx="168267" cy="172069"/>
            </a:xfrm>
            <a:custGeom>
              <a:avLst/>
              <a:gdLst/>
              <a:ahLst/>
              <a:cxnLst/>
              <a:rect l="l" t="t" r="r" b="b"/>
              <a:pathLst>
                <a:path w="5002" h="5002" extrusionOk="0">
                  <a:moveTo>
                    <a:pt x="2501" y="1215"/>
                  </a:moveTo>
                  <a:cubicBezTo>
                    <a:pt x="3216" y="1215"/>
                    <a:pt x="3811" y="1787"/>
                    <a:pt x="3811" y="2501"/>
                  </a:cubicBezTo>
                  <a:cubicBezTo>
                    <a:pt x="3811" y="3240"/>
                    <a:pt x="3216" y="3811"/>
                    <a:pt x="2501" y="3811"/>
                  </a:cubicBezTo>
                  <a:cubicBezTo>
                    <a:pt x="1787" y="3811"/>
                    <a:pt x="1215" y="3216"/>
                    <a:pt x="1215" y="2501"/>
                  </a:cubicBezTo>
                  <a:cubicBezTo>
                    <a:pt x="1215" y="1787"/>
                    <a:pt x="1787" y="1215"/>
                    <a:pt x="2501" y="1215"/>
                  </a:cubicBezTo>
                  <a:close/>
                  <a:moveTo>
                    <a:pt x="4692" y="2668"/>
                  </a:moveTo>
                  <a:cubicBezTo>
                    <a:pt x="4668" y="3121"/>
                    <a:pt x="4502" y="3549"/>
                    <a:pt x="4216" y="3883"/>
                  </a:cubicBezTo>
                  <a:lnTo>
                    <a:pt x="3787" y="3454"/>
                  </a:lnTo>
                  <a:cubicBezTo>
                    <a:pt x="3954" y="3216"/>
                    <a:pt x="4073" y="2954"/>
                    <a:pt x="4097" y="2668"/>
                  </a:cubicBezTo>
                  <a:close/>
                  <a:moveTo>
                    <a:pt x="2358" y="311"/>
                  </a:moveTo>
                  <a:lnTo>
                    <a:pt x="2358" y="930"/>
                  </a:lnTo>
                  <a:cubicBezTo>
                    <a:pt x="1549" y="1001"/>
                    <a:pt x="906" y="1692"/>
                    <a:pt x="906" y="2501"/>
                  </a:cubicBezTo>
                  <a:cubicBezTo>
                    <a:pt x="906" y="3383"/>
                    <a:pt x="1620" y="4097"/>
                    <a:pt x="2501" y="4097"/>
                  </a:cubicBezTo>
                  <a:cubicBezTo>
                    <a:pt x="2930" y="4097"/>
                    <a:pt x="3311" y="3954"/>
                    <a:pt x="3597" y="3668"/>
                  </a:cubicBezTo>
                  <a:cubicBezTo>
                    <a:pt x="3740" y="3811"/>
                    <a:pt x="3883" y="3954"/>
                    <a:pt x="4025" y="4097"/>
                  </a:cubicBezTo>
                  <a:cubicBezTo>
                    <a:pt x="3644" y="4478"/>
                    <a:pt x="3097" y="4716"/>
                    <a:pt x="2501" y="4716"/>
                  </a:cubicBezTo>
                  <a:cubicBezTo>
                    <a:pt x="1287" y="4716"/>
                    <a:pt x="310" y="3716"/>
                    <a:pt x="310" y="2501"/>
                  </a:cubicBezTo>
                  <a:cubicBezTo>
                    <a:pt x="310" y="1335"/>
                    <a:pt x="1215" y="382"/>
                    <a:pt x="2358" y="311"/>
                  </a:cubicBezTo>
                  <a:close/>
                  <a:moveTo>
                    <a:pt x="2501" y="1"/>
                  </a:moveTo>
                  <a:cubicBezTo>
                    <a:pt x="1120" y="1"/>
                    <a:pt x="1" y="1144"/>
                    <a:pt x="1" y="2501"/>
                  </a:cubicBezTo>
                  <a:cubicBezTo>
                    <a:pt x="1" y="3883"/>
                    <a:pt x="1120" y="5002"/>
                    <a:pt x="2501" y="5002"/>
                  </a:cubicBezTo>
                  <a:cubicBezTo>
                    <a:pt x="3883" y="5002"/>
                    <a:pt x="5002" y="3883"/>
                    <a:pt x="5002" y="2501"/>
                  </a:cubicBezTo>
                  <a:cubicBezTo>
                    <a:pt x="5002" y="1978"/>
                    <a:pt x="4835" y="1477"/>
                    <a:pt x="4526" y="1049"/>
                  </a:cubicBezTo>
                  <a:cubicBezTo>
                    <a:pt x="4499" y="1009"/>
                    <a:pt x="4459" y="992"/>
                    <a:pt x="4415" y="992"/>
                  </a:cubicBezTo>
                  <a:cubicBezTo>
                    <a:pt x="4380" y="992"/>
                    <a:pt x="4343" y="1004"/>
                    <a:pt x="4311" y="1025"/>
                  </a:cubicBezTo>
                  <a:cubicBezTo>
                    <a:pt x="4264" y="1073"/>
                    <a:pt x="4240" y="1144"/>
                    <a:pt x="4287" y="1215"/>
                  </a:cubicBezTo>
                  <a:cubicBezTo>
                    <a:pt x="4526" y="1549"/>
                    <a:pt x="4668" y="1954"/>
                    <a:pt x="4692" y="2359"/>
                  </a:cubicBezTo>
                  <a:lnTo>
                    <a:pt x="4097" y="2359"/>
                  </a:lnTo>
                  <a:cubicBezTo>
                    <a:pt x="4025" y="1597"/>
                    <a:pt x="3406" y="1001"/>
                    <a:pt x="2644" y="930"/>
                  </a:cubicBezTo>
                  <a:lnTo>
                    <a:pt x="2644" y="311"/>
                  </a:lnTo>
                  <a:cubicBezTo>
                    <a:pt x="3097" y="334"/>
                    <a:pt x="3501" y="501"/>
                    <a:pt x="3859" y="787"/>
                  </a:cubicBezTo>
                  <a:cubicBezTo>
                    <a:pt x="3886" y="805"/>
                    <a:pt x="3917" y="813"/>
                    <a:pt x="3947" y="813"/>
                  </a:cubicBezTo>
                  <a:cubicBezTo>
                    <a:pt x="3996" y="813"/>
                    <a:pt x="4044" y="792"/>
                    <a:pt x="4073" y="763"/>
                  </a:cubicBezTo>
                  <a:cubicBezTo>
                    <a:pt x="4121" y="692"/>
                    <a:pt x="4121" y="596"/>
                    <a:pt x="4049" y="549"/>
                  </a:cubicBezTo>
                  <a:cubicBezTo>
                    <a:pt x="3597" y="191"/>
                    <a:pt x="3073" y="1"/>
                    <a:pt x="2501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" name="Google Shape;2814;p94">
              <a:extLst>
                <a:ext uri="{FF2B5EF4-FFF2-40B4-BE49-F238E27FC236}">
                  <a16:creationId xmlns:a16="http://schemas.microsoft.com/office/drawing/2014/main" id="{CC942708-1EED-4719-A7AB-15E25B610BA4}"/>
                </a:ext>
              </a:extLst>
            </p:cNvPr>
            <p:cNvSpPr/>
            <p:nvPr/>
          </p:nvSpPr>
          <p:spPr>
            <a:xfrm>
              <a:off x="4794107" y="2453402"/>
              <a:ext cx="24086" cy="17475"/>
            </a:xfrm>
            <a:custGeom>
              <a:avLst/>
              <a:gdLst/>
              <a:ahLst/>
              <a:cxnLst/>
              <a:rect l="l" t="t" r="r" b="b"/>
              <a:pathLst>
                <a:path w="716" h="508" extrusionOk="0">
                  <a:moveTo>
                    <a:pt x="167" y="1"/>
                  </a:moveTo>
                  <a:cubicBezTo>
                    <a:pt x="132" y="1"/>
                    <a:pt x="96" y="19"/>
                    <a:pt x="72" y="55"/>
                  </a:cubicBezTo>
                  <a:cubicBezTo>
                    <a:pt x="1" y="102"/>
                    <a:pt x="1" y="197"/>
                    <a:pt x="72" y="245"/>
                  </a:cubicBezTo>
                  <a:lnTo>
                    <a:pt x="263" y="459"/>
                  </a:lnTo>
                  <a:cubicBezTo>
                    <a:pt x="286" y="483"/>
                    <a:pt x="334" y="507"/>
                    <a:pt x="358" y="507"/>
                  </a:cubicBezTo>
                  <a:cubicBezTo>
                    <a:pt x="405" y="507"/>
                    <a:pt x="429" y="483"/>
                    <a:pt x="477" y="459"/>
                  </a:cubicBezTo>
                  <a:lnTo>
                    <a:pt x="667" y="245"/>
                  </a:lnTo>
                  <a:cubicBezTo>
                    <a:pt x="715" y="197"/>
                    <a:pt x="715" y="102"/>
                    <a:pt x="667" y="55"/>
                  </a:cubicBezTo>
                  <a:cubicBezTo>
                    <a:pt x="632" y="19"/>
                    <a:pt x="590" y="1"/>
                    <a:pt x="551" y="1"/>
                  </a:cubicBezTo>
                  <a:cubicBezTo>
                    <a:pt x="513" y="1"/>
                    <a:pt x="477" y="19"/>
                    <a:pt x="453" y="55"/>
                  </a:cubicBezTo>
                  <a:lnTo>
                    <a:pt x="358" y="150"/>
                  </a:lnTo>
                  <a:lnTo>
                    <a:pt x="263" y="55"/>
                  </a:lnTo>
                  <a:cubicBezTo>
                    <a:pt x="239" y="19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" name="Google Shape;2815;p94">
              <a:extLst>
                <a:ext uri="{FF2B5EF4-FFF2-40B4-BE49-F238E27FC236}">
                  <a16:creationId xmlns:a16="http://schemas.microsoft.com/office/drawing/2014/main" id="{75757593-004B-4B1D-8138-0CAB416ECD5D}"/>
                </a:ext>
              </a:extLst>
            </p:cNvPr>
            <p:cNvSpPr/>
            <p:nvPr/>
          </p:nvSpPr>
          <p:spPr>
            <a:xfrm>
              <a:off x="4883051" y="2382744"/>
              <a:ext cx="24053" cy="16856"/>
            </a:xfrm>
            <a:custGeom>
              <a:avLst/>
              <a:gdLst/>
              <a:ahLst/>
              <a:cxnLst/>
              <a:rect l="l" t="t" r="r" b="b"/>
              <a:pathLst>
                <a:path w="715" h="490" extrusionOk="0">
                  <a:moveTo>
                    <a:pt x="164" y="1"/>
                  </a:moveTo>
                  <a:cubicBezTo>
                    <a:pt x="125" y="1"/>
                    <a:pt x="83" y="13"/>
                    <a:pt x="48" y="37"/>
                  </a:cubicBezTo>
                  <a:cubicBezTo>
                    <a:pt x="0" y="84"/>
                    <a:pt x="0" y="180"/>
                    <a:pt x="48" y="251"/>
                  </a:cubicBezTo>
                  <a:lnTo>
                    <a:pt x="238" y="442"/>
                  </a:lnTo>
                  <a:cubicBezTo>
                    <a:pt x="286" y="465"/>
                    <a:pt x="310" y="489"/>
                    <a:pt x="357" y="489"/>
                  </a:cubicBezTo>
                  <a:cubicBezTo>
                    <a:pt x="381" y="489"/>
                    <a:pt x="429" y="465"/>
                    <a:pt x="453" y="442"/>
                  </a:cubicBezTo>
                  <a:lnTo>
                    <a:pt x="667" y="251"/>
                  </a:lnTo>
                  <a:cubicBezTo>
                    <a:pt x="714" y="180"/>
                    <a:pt x="714" y="84"/>
                    <a:pt x="667" y="37"/>
                  </a:cubicBezTo>
                  <a:cubicBezTo>
                    <a:pt x="631" y="13"/>
                    <a:pt x="589" y="1"/>
                    <a:pt x="551" y="1"/>
                  </a:cubicBezTo>
                  <a:cubicBezTo>
                    <a:pt x="512" y="1"/>
                    <a:pt x="476" y="13"/>
                    <a:pt x="453" y="37"/>
                  </a:cubicBezTo>
                  <a:lnTo>
                    <a:pt x="357" y="132"/>
                  </a:lnTo>
                  <a:lnTo>
                    <a:pt x="262" y="37"/>
                  </a:lnTo>
                  <a:cubicBezTo>
                    <a:pt x="238" y="13"/>
                    <a:pt x="202" y="1"/>
                    <a:pt x="164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" name="Google Shape;2816;p94">
              <a:extLst>
                <a:ext uri="{FF2B5EF4-FFF2-40B4-BE49-F238E27FC236}">
                  <a16:creationId xmlns:a16="http://schemas.microsoft.com/office/drawing/2014/main" id="{E064EA9E-2DFD-4EA3-B711-1609C3E46F7B}"/>
                </a:ext>
              </a:extLst>
            </p:cNvPr>
            <p:cNvSpPr/>
            <p:nvPr/>
          </p:nvSpPr>
          <p:spPr>
            <a:xfrm>
              <a:off x="4935899" y="2304106"/>
              <a:ext cx="24086" cy="16856"/>
            </a:xfrm>
            <a:custGeom>
              <a:avLst/>
              <a:gdLst/>
              <a:ahLst/>
              <a:cxnLst/>
              <a:rect l="l" t="t" r="r" b="b"/>
              <a:pathLst>
                <a:path w="716" h="490" extrusionOk="0">
                  <a:moveTo>
                    <a:pt x="168" y="1"/>
                  </a:moveTo>
                  <a:cubicBezTo>
                    <a:pt x="132" y="1"/>
                    <a:pt x="96" y="13"/>
                    <a:pt x="72" y="37"/>
                  </a:cubicBezTo>
                  <a:cubicBezTo>
                    <a:pt x="1" y="84"/>
                    <a:pt x="1" y="179"/>
                    <a:pt x="72" y="251"/>
                  </a:cubicBezTo>
                  <a:lnTo>
                    <a:pt x="263" y="441"/>
                  </a:lnTo>
                  <a:cubicBezTo>
                    <a:pt x="287" y="465"/>
                    <a:pt x="310" y="489"/>
                    <a:pt x="358" y="489"/>
                  </a:cubicBezTo>
                  <a:cubicBezTo>
                    <a:pt x="406" y="489"/>
                    <a:pt x="429" y="465"/>
                    <a:pt x="453" y="441"/>
                  </a:cubicBezTo>
                  <a:lnTo>
                    <a:pt x="668" y="251"/>
                  </a:lnTo>
                  <a:cubicBezTo>
                    <a:pt x="715" y="179"/>
                    <a:pt x="715" y="84"/>
                    <a:pt x="668" y="37"/>
                  </a:cubicBezTo>
                  <a:cubicBezTo>
                    <a:pt x="632" y="13"/>
                    <a:pt x="590" y="1"/>
                    <a:pt x="552" y="1"/>
                  </a:cubicBezTo>
                  <a:cubicBezTo>
                    <a:pt x="513" y="1"/>
                    <a:pt x="477" y="13"/>
                    <a:pt x="453" y="37"/>
                  </a:cubicBezTo>
                  <a:lnTo>
                    <a:pt x="358" y="132"/>
                  </a:lnTo>
                  <a:lnTo>
                    <a:pt x="263" y="37"/>
                  </a:lnTo>
                  <a:cubicBezTo>
                    <a:pt x="239" y="13"/>
                    <a:pt x="203" y="1"/>
                    <a:pt x="168" y="1"/>
                  </a:cubicBezTo>
                  <a:close/>
                </a:path>
              </a:pathLst>
            </a:custGeom>
            <a:solidFill>
              <a:srgbClr val="E4EA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/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ПРОБЛЕМА И РЕШЕНИЕ</a:t>
            </a:r>
            <a:endParaRPr lang="ru-RU" dirty="0"/>
          </a:p>
        </p:txBody>
      </p:sp>
      <p:cxnSp>
        <p:nvCxnSpPr>
          <p:cNvPr id="14" name="Google Shape;2799;p94">
            <a:extLst>
              <a:ext uri="{FF2B5EF4-FFF2-40B4-BE49-F238E27FC236}">
                <a16:creationId xmlns:a16="http://schemas.microsoft.com/office/drawing/2014/main" id="{0372E42A-E229-C83D-8A7D-7D33518B16A2}"/>
              </a:ext>
            </a:extLst>
          </p:cNvPr>
          <p:cNvCxnSpPr>
            <a:cxnSpLocks/>
          </p:cNvCxnSpPr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Placeholder 108"/>
          <p:cNvSpPr>
            <a:spLocks noGrp="1"/>
          </p:cNvSpPr>
          <p:nvPr>
            <p:ph type="body" idx="33" sz="quarter"/>
          </p:nvPr>
        </p:nvSpPr>
        <p:spPr>
          <a:xfrm>
            <a:off x="517027" y="3150000"/>
            <a:ext cx="3264113" cy="420000"/>
          </a:xfrm>
        </p:spPr>
        <p:txBody>
          <a:bodyPr/>
          <a:lstStyle/>
          <a:p>
            <a:pPr marL="0" indent="0" algn="ctr">
              <a:buNone/>
            </a:pPr>
            <a:r>
              <a:rPr sz="1600" b="1">
                <a:solidFill>
                  <a:srgbClr val="520977"/>
                </a:solidFill>
              </a:rPr>
              <a:t>Проблема</a:t>
            </a:r>
          </a:p>
        </p:txBody>
      </p:sp>
      <p:sp>
        <p:nvSpPr>
          <p:cNvPr id="110" name="Text Placeholder 109"/>
          <p:cNvSpPr>
            <a:spLocks noGrp="1"/>
          </p:cNvSpPr>
          <p:nvPr>
            <p:ph type="body" idx="34" sz="quarter"/>
          </p:nvPr>
        </p:nvSpPr>
        <p:spPr>
          <a:xfrm>
            <a:off x="4464542" y="3150000"/>
            <a:ext cx="3264113" cy="420000"/>
          </a:xfrm>
        </p:spPr>
        <p:txBody>
          <a:bodyPr/>
          <a:lstStyle/>
          <a:p>
            <a:pPr marL="0" indent="0" algn="ctr">
              <a:buNone/>
            </a:pPr>
            <a:r>
              <a:rPr sz="1600" b="1">
                <a:solidFill>
                  <a:srgbClr val="520977"/>
                </a:solidFill>
              </a:rPr>
              <a:t>Альтернативы</a:t>
            </a:r>
          </a:p>
        </p:txBody>
      </p:sp>
      <p:sp>
        <p:nvSpPr>
          <p:cNvPr id="111" name="Text Placeholder 110"/>
          <p:cNvSpPr>
            <a:spLocks noGrp="1"/>
          </p:cNvSpPr>
          <p:nvPr>
            <p:ph type="body" idx="35" sz="quarter"/>
          </p:nvPr>
        </p:nvSpPr>
        <p:spPr>
          <a:xfrm>
            <a:off x="8385481" y="3150000"/>
            <a:ext cx="3264113" cy="420000"/>
          </a:xfrm>
        </p:spPr>
        <p:txBody>
          <a:bodyPr/>
          <a:lstStyle/>
          <a:p>
            <a:pPr marL="0" indent="0" algn="ctr">
              <a:buNone/>
            </a:pPr>
            <a:r>
              <a:rPr sz="1600" b="1">
                <a:solidFill>
                  <a:srgbClr val="520977"/>
                </a:solidFill>
              </a:rPr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38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/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/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520913" y="2339783"/>
            <a:ext cx="2284071" cy="423628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Укладка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20913" y="3128740"/>
            <a:ext cx="2284071" cy="2797928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Бедро: ось диафиза и медиальный контур. Позвоночник: охват позвонков в поле снимка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457903" y="2373557"/>
            <a:ext cx="2337416" cy="403756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Ось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457903" y="3134070"/>
            <a:ext cx="2337416" cy="2797928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Робастная центральная линия позвоночника и наклон в градусах (допустимо до 5°)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456363" y="2379657"/>
            <a:ext cx="2268537" cy="403913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Предметы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456363" y="3136604"/>
            <a:ext cx="2268537" cy="2797928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Металл одежды и импланты: фильтры top-hat и ridge в мягких тканях + нейросетевые признаки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9407534" y="2339783"/>
            <a:ext cx="2263553" cy="423628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Область интереса</a:t>
            </a:r>
            <a:endParaRPr lang="ru-RU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9407534" y="3128739"/>
            <a:ext cx="2263553" cy="2797928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Размеры поля и отступы кости от краёв в мм для проксимального отдела бедра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ЧТО ПРОВЕРЯЕМ</a:t>
            </a:r>
            <a:endParaRPr lang="ru-RU"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01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449944" y="1766200"/>
            <a:ext cx="771003" cy="403756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02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456363" y="1766043"/>
            <a:ext cx="771003" cy="403913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03</a:t>
            </a:r>
            <a:endParaRPr lang="ru-RU" b="1" dirty="0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9407534" y="1772416"/>
            <a:ext cx="771003" cy="423628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04</a:t>
            </a:r>
            <a:endParaRPr lang="ru-RU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401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25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Загрузка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 b="0">
                <a:solidFill>
                  <a:srgbClr val="1C1D22"/>
                </a:solidFill>
              </a:rPr>
              <a:t>DICOM, папка или ZIP; проверка файла и сетка 1 мм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Признаки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 b="0">
                <a:solidFill>
                  <a:srgbClr val="1C1D22"/>
                </a:solidFill>
              </a:rPr>
              <a:t>Геометрия в мм и градусах + эмбеддинги трёх бэкбонов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Результат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814077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 b="0">
                <a:solidFill>
                  <a:srgbClr val="1C1D22"/>
                </a:solidFill>
              </a:rPr>
              <a:t>Вердикт, заключение, разметка, коррекция, XLSX и DICOM SR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Область</a:t>
            </a:r>
            <a:endParaRPr lang="ru-RU"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 b="0">
                <a:solidFill>
                  <a:srgbClr val="1C1D22"/>
                </a:solidFill>
              </a:rPr>
              <a:t>Позвоночник или бедро и его сторона — только по пикселям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Решение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5181340"/>
            <a:ext cx="2526079" cy="1120685"/>
          </a:xfrm>
        </p:spPr>
        <p:txBody>
          <a:bodyPr/>
          <a:lstStyle/>
          <a:p>
            <a:pPr marL="0" indent="0">
              <a:buNone/>
            </a:pPr>
            <a:r>
              <a:rPr sz="1200" b="0">
                <a:solidFill>
                  <a:srgbClr val="1C1D22"/>
                </a:solidFill>
              </a:rPr>
              <a:t>Ансамбль голов на критерий, пороги по F1, калибровка</a:t>
            </a:r>
            <a:endParaRPr lang="ru-RU">
              <a:solidFill>
                <a:schemeClr val="tx1"/>
              </a:solidFill>
            </a:endParaRPr>
          </a:p>
        </p:txBody>
      </p: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623D4-5E7E-44FB-A655-80D9166ACECF}"/>
              </a:ext>
            </a:extLst>
          </p:cNvPr>
          <p:cNvCxnSpPr>
            <a:cxnSpLocks/>
          </p:cNvCxnSpPr>
          <p:nvPr/>
        </p:nvCxn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13BC568E-FCE4-46A3-933D-4F9F8325A813}"/>
              </a:ext>
            </a:extLst>
          </p:cNvPr>
          <p:cNvCxnSpPr>
            <a:cxnSpLocks/>
          </p:cNvCxnSpPr>
          <p:nvPr/>
        </p:nvCxn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043ABED0-AC0F-4D92-AB29-318DAE79D38B}"/>
              </a:ext>
            </a:extLst>
          </p:cNvPr>
          <p:cNvCxnSpPr>
            <a:cxnSpLocks/>
          </p:cNvCxnSpPr>
          <p:nvPr/>
        </p:nvCxn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>
            <a:extLst>
              <a:ext uri="{FF2B5EF4-FFF2-40B4-BE49-F238E27FC236}">
                <a16:creationId xmlns:a16="http://schemas.microsoft.com/office/drawing/2014/main" id="{836D684E-425A-4867-B96C-B1550D2326EC}"/>
              </a:ext>
            </a:extLst>
          </p:cNvPr>
          <p:cNvCxnSpPr>
            <a:cxnSpLocks/>
          </p:cNvCxnSpPr>
          <p:nvPr/>
        </p:nvCxn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>
            <a:extLst>
              <a:ext uri="{FF2B5EF4-FFF2-40B4-BE49-F238E27FC236}">
                <a16:creationId xmlns:a16="http://schemas.microsoft.com/office/drawing/2014/main" id="{81B30F67-B043-4D47-8D41-EA47E7D98286}"/>
              </a:ext>
            </a:extLst>
          </p:cNvPr>
          <p:cNvCxnSpPr>
            <a:cxnSpLocks/>
          </p:cNvCxnSpPr>
          <p:nvPr/>
        </p:nvCxn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>
            <a:extLst>
              <a:ext uri="{FF2B5EF4-FFF2-40B4-BE49-F238E27FC236}">
                <a16:creationId xmlns:a16="http://schemas.microsoft.com/office/drawing/2014/main" id="{B41E618C-6887-4F78-8BEC-4C2ABC30AC44}"/>
              </a:ext>
            </a:extLst>
          </p:cNvPr>
          <p:cNvCxnSpPr>
            <a:cxnSpLocks/>
          </p:cNvCxnSpPr>
          <p:nvPr/>
        </p:nvCxn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DE971D4E-B203-4B09-93F8-D53951540777}"/>
              </a:ext>
            </a:extLst>
          </p:cNvPr>
          <p:cNvCxnSpPr>
            <a:cxnSpLocks/>
          </p:cNvCxnSpPr>
          <p:nvPr/>
        </p:nvCxn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2BF27CC0-A85F-4C49-884A-649E718F232A}"/>
              </a:ext>
            </a:extLst>
          </p:cNvPr>
          <p:cNvCxnSpPr>
            <a:cxnSpLocks/>
          </p:cNvCxnSpPr>
          <p:nvPr/>
        </p:nvCxn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единительная линия 41">
            <a:extLst>
              <a:ext uri="{FF2B5EF4-FFF2-40B4-BE49-F238E27FC236}">
                <a16:creationId xmlns:a16="http://schemas.microsoft.com/office/drawing/2014/main" id="{8A19CF67-915F-4390-A30E-945C95016756}"/>
              </a:ext>
            </a:extLst>
          </p:cNvPr>
          <p:cNvCxnSpPr>
            <a:cxnSpLocks/>
          </p:cNvCxnSpPr>
          <p:nvPr/>
        </p:nvCxn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Скругленный прямоугольник 42">
            <a:extLst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/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1</a:t>
            </a:r>
          </a:p>
        </p:txBody>
      </p:sp>
      <p:sp>
        <p:nvSpPr>
          <p:cNvPr id="44" name="Скругленный прямоугольник 43">
            <a:extLst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/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2</a:t>
            </a:r>
          </a:p>
        </p:txBody>
      </p:sp>
      <p:sp>
        <p:nvSpPr>
          <p:cNvPr id="45" name="Скругленный прямоугольник 44">
            <a:extLst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/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3</a:t>
            </a:r>
          </a:p>
        </p:txBody>
      </p:sp>
      <p:sp>
        <p:nvSpPr>
          <p:cNvPr id="53" name="Скругленный прямоугольник 52">
            <a:extLst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/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4</a:t>
            </a:r>
          </a:p>
        </p:txBody>
      </p:sp>
      <p:sp>
        <p:nvSpPr>
          <p:cNvPr id="54" name="Скругленный прямоугольник 53">
            <a:extLst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/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ru-RU" sz="2400" b="1" dirty="0"/>
              <a:t>5</a:t>
            </a: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КАК ЭТО РАБОТАЕТ</a:t>
            </a:r>
            <a:endParaRPr lang="ru-RU" dirty="0"/>
          </a:p>
        </p:txBody>
      </p:sp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/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6" name="Скругленный прямоугольник 15">
            <a:extLst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/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/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/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/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ru-RU" sz="2400" b="1" dirty="0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СООТВЕТСТВИЕ ТРЕБОВАНИЯМ ТЗ</a:t>
            </a:r>
            <a:endParaRPr lang="ru-RU" sz="3600" dirty="0">
              <a:solidFill>
                <a:schemeClr val="bg1"/>
              </a:solidFill>
            </a:endParaRP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60000" y="1450000"/>
          <a:ext cx="11070000" cy="4700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300000"/>
                <a:gridCol w="7770000"/>
              </a:tblGrid>
              <a:tr h="470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Требование</a:t>
                      </a:r>
                    </a:p>
                  </a:txBody>
                  <a:tcPr marL="110000" marR="110000" marT="40000" marB="40000" anchor="ctr">
                    <a:solidFill>
                      <a:srgbClr val="5209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Реализация в решении</a:t>
                      </a:r>
                    </a:p>
                  </a:txBody>
                  <a:tcPr marL="110000" marR="110000" marT="40000" marB="40000" anchor="ctr">
                    <a:solidFill>
                      <a:srgbClr val="520977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Вход: исследование в формате DICOM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DICOM-файл, папка или ZIP-архив; MONOCHROME1/2, 8 и 16 бит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Анатомическая область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Поясничный отдел позвоночника / проксимальный отдел бедра и его сторона — по пикселям, точность 100%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Класс качества и вероятность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quality_class: 0 — качественное, 1 — нарушение; калиброванная вероятность quality_prob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Тип нарушения (п. 2.3)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Мультилейбл: некорректная укладка, ось позвоночника, посторонние предметы, область интереса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Формат результата (п. 2.5)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results.xlsx / .csv: путь, StudyInstanceUID, SOPInstanceUID, область, класс, вероятность, тип, статус, время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Время обработки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~0,5 с на снимок на CPU при лимите 3 минуты на исследование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Обработка ошибок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Статус Failure с причиной в results_errors.csv, пакет продолжает обработку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Доп. функционал (п. 2.6)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DICOM SR с заключением, снимок с разметкой, веб-интерфейс, решение специалиста</a:t>
                      </a:r>
                    </a:p>
                  </a:txBody>
                  <a:tcPr marL="110000" marR="110000" marT="40000" marB="40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520977"/>
                          </a:solidFill>
                        </a:rPr>
                        <a:t>Документация (п. 5)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C1D22"/>
                          </a:solidFill>
                        </a:rPr>
                        <a:t>README, руководства пользователя, развёртывания и обучения, отчёт по безопасности</a:t>
                      </a:r>
                    </a:p>
                  </a:txBody>
                  <a:tcPr marL="110000" marR="110000" marT="40000" marB="40000" anchor="ctr">
                    <a:solidFill>
                      <a:srgbClr val="F4F0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422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localhost:7077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localhost:7077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ZIP-архив с исследованиями → очередь, анализ, готово. Отчёт одним архивом: XLSX/CSV, журнал ошибок, визуализации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Сводка по нарушениям и таблица: фильтры по области, вердикту и типу нарушения, сортировка по вероятности и времени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5" name="Рисунок 4" descr="c_progress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>
            <a:fillRect/>
          </a:stretch>
        </p:blipFill>
        <p:spPr/>
      </p:pic>
      <p:pic>
        <p:nvPicPr>
          <p:cNvPr id="6" name="Рисунок 5" descr="c_results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ПАКЕТНАЯ ПРОВЕРКА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кругленный прямоугольник 2">
            <a:extLst>
              <a:ext uri="{FF2B5EF4-FFF2-40B4-BE49-F238E27FC236}">
                <a16:creationId xmlns:a16="http://schemas.microsoft.com/office/drawing/2014/main" id="{64C56CA4-DEF9-5625-89CB-6C07486C2532}"/>
              </a:ext>
            </a:extLst>
          </p:cNvPr>
          <p:cNvSpPr/>
          <p:nvPr/>
        </p:nvSpPr>
        <p:spPr>
          <a:xfrm>
            <a:off x="346075" y="324562"/>
            <a:ext cx="380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D2A0318-C089-B05C-98D0-C8E15942D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8252" y="904538"/>
            <a:ext cx="4551334" cy="3557364"/>
          </a:xfrm>
          <a:prstGeom prst="rect">
            <a:avLst/>
          </a:prstGeom>
        </p:spPr>
      </p:pic>
      <p:pic>
        <p:nvPicPr>
          <p:cNvPr id="2" name="Рисунок 1" descr="c_card.png"/>
          <p:cNvPicPr>
            <a:picLocks noGrp="1" noChangeAspect="1"/>
          </p:cNvPicPr>
          <p:nvPr>
            <p:ph type="pic" sz="quarter" idx="14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52D5942-B353-44B0-BA5B-56640646D1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26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C247253-002A-413B-B1BF-2661F6820C7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Разметка на снимке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Ось позвоночника, посторонние предметы и центральная линия позвонков — включается переключателем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1719752-EED6-4EE5-BE5A-FB401278B9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Заключение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Простым языком и с измерениями: наклон оси, высота поля, вероятность нарушения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616E677-DB7C-4B76-AAC0-44E0CBDD2C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520977"/>
                </a:solidFill>
              </a:rPr>
              <a:t>Критерии качества</a:t>
            </a:r>
            <a:endParaRPr lang="ru-RU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Вероятность по каждому критерию: укладка, ось, посторонние предметы, область интереса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F4D2037-46B3-D253-D9E2-75E4F6E77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КАРТОЧКА СНИМКА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999894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/>
          <p:nvPr/>
        </p:nvSpPr>
        <p:spPr>
          <a:xfrm>
            <a:off x="346075" y="266006"/>
            <a:ext cx="5354638" cy="6331643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14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040" y="496888"/>
            <a:ext cx="4781233" cy="415925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ОДИН СНИМОК</a:t>
            </a:r>
            <a:endParaRPr lang="ru-RU" sz="2000" dirty="0">
              <a:solidFill>
                <a:schemeClr val="accent5"/>
              </a:solidFill>
            </a:endParaRPr>
          </a:p>
        </p:txBody>
      </p:sp>
      <p:pic>
        <p:nvPicPr>
          <p:cNvPr id="4" name="Рисунок 3" descr="c_single.png"/>
          <p:cNvPicPr>
            <a:picLocks noGrp="1" noChangeAspect="1"/>
          </p:cNvPicPr>
          <p:nvPr>
            <p:ph type="pic" sz="quarter" idx="10"/>
          </p:nvPr>
        </p:nvPicPr>
        <p:blipFill>
          <a:blip r:embed="rId4"/>
          <a:srcRect/>
          <a:stretch>
            <a:fillRect/>
          </a:stretch>
        </p:blipFill>
        <p:spPr>
          <a:xfrm>
            <a:off x="6096001" y="0"/>
            <a:ext cx="6096000" cy="6857999"/>
          </a:xfrm>
        </p:spPr>
      </p:pic>
      <p:sp>
        <p:nvSpPr>
          <p:cNvPr id="7" name="Текст 6">
            <a:extLst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5433" y="1143695"/>
            <a:ext cx="4807840" cy="4717356"/>
          </a:xfrm>
        </p:spPr>
        <p:txBody>
          <a:bodyPr/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C1D22"/>
                </a:solidFill>
              </a:rPr>
              <a:t>Режим для кабинета: один DICOM-файл сразу после исследования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C1D22"/>
                </a:solidFill>
              </a:rPr>
              <a:t>Область определяется автоматически — ничего выбирать не нужно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C1D22"/>
                </a:solidFill>
              </a:rPr>
              <a:t>Меньше секунды: вердикт, заключение, критерии и разметка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C1D22"/>
                </a:solidFill>
              </a:rPr>
              <a:t>Лаборант видит, что исправить, и повторяет снимок, пока пациент ещё в кабинете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/>
          <p:nvPr/>
        </p:nvSpPr>
        <p:spPr>
          <a:xfrm>
            <a:off x="346075" y="324562"/>
            <a:ext cx="5060000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grpSp>
        <p:nvGrpSpPr>
          <p:cNvPr id="8" name="Group 82">
            <a:extLst>
              <a:ext uri="{FF2B5EF4-FFF2-40B4-BE49-F238E27FC236}">
                <a16:creationId xmlns:a16="http://schemas.microsoft.com/office/drawing/2014/main" id="{24F452BD-B318-4752-95A0-FE784050E11F}"/>
              </a:ext>
            </a:extLst>
          </p:cNvPr>
          <p:cNvGrpSpPr>
            <a:grpSpLocks noChangeAspect="1"/>
          </p:cNvGrpSpPr>
          <p:nvPr/>
        </p:nvGrpSpPr>
        <p:grpSpPr>
          <a:xfrm>
            <a:off x="1149124" y="1149443"/>
            <a:ext cx="4267960" cy="2822929"/>
            <a:chOff x="1027152" y="2693983"/>
            <a:chExt cx="6796849" cy="4462905"/>
          </a:xfrm>
        </p:grpSpPr>
        <p:grpSp>
          <p:nvGrpSpPr>
            <p:cNvPr id="9" name="Group 83">
              <a:extLst>
                <a:ext uri="{FF2B5EF4-FFF2-40B4-BE49-F238E27FC236}">
                  <a16:creationId xmlns:a16="http://schemas.microsoft.com/office/drawing/2014/main" id="{FD5311CA-A8DA-4752-BCCC-9D77C86DAA8A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12" name="AutoShape 1">
                <a:extLst>
                  <a:ext uri="{FF2B5EF4-FFF2-40B4-BE49-F238E27FC236}">
                    <a16:creationId xmlns:a16="http://schemas.microsoft.com/office/drawing/2014/main" id="{C5DD9855-9040-4A8E-8FC7-2A87D71D92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3" name="Rectangle 2">
                <a:extLst>
                  <a:ext uri="{FF2B5EF4-FFF2-40B4-BE49-F238E27FC236}">
                    <a16:creationId xmlns:a16="http://schemas.microsoft.com/office/drawing/2014/main" id="{1CA962FF-DEAF-450E-BAC9-2CBF039F5E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4" name="AutoShape 3">
                <a:extLst>
                  <a:ext uri="{FF2B5EF4-FFF2-40B4-BE49-F238E27FC236}">
                    <a16:creationId xmlns:a16="http://schemas.microsoft.com/office/drawing/2014/main" id="{29B32C08-05E5-455D-AB4B-FA780C0B9C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5" name="Oval 4">
                <a:extLst>
                  <a:ext uri="{FF2B5EF4-FFF2-40B4-BE49-F238E27FC236}">
                    <a16:creationId xmlns:a16="http://schemas.microsoft.com/office/drawing/2014/main" id="{DB5DCAC2-FF8B-4D8A-8761-EF6BE6B4CB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6" name="Oval 5">
                <a:extLst>
                  <a:ext uri="{FF2B5EF4-FFF2-40B4-BE49-F238E27FC236}">
                    <a16:creationId xmlns:a16="http://schemas.microsoft.com/office/drawing/2014/main" id="{A18062AF-728F-4F67-A9EE-6DA3DC1E6B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7" name="Oval 6">
                <a:extLst>
                  <a:ext uri="{FF2B5EF4-FFF2-40B4-BE49-F238E27FC236}">
                    <a16:creationId xmlns:a16="http://schemas.microsoft.com/office/drawing/2014/main" id="{1F8B8CA3-31B9-4E3E-89F8-B823F31C1C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18" name="Rectangle 92">
                <a:extLst>
                  <a:ext uri="{FF2B5EF4-FFF2-40B4-BE49-F238E27FC236}">
                    <a16:creationId xmlns:a16="http://schemas.microsoft.com/office/drawing/2014/main" id="{C40CC64C-4BDE-4B83-ACBA-76BBEC31E3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19" name="Group 93">
                <a:extLst>
                  <a:ext uri="{FF2B5EF4-FFF2-40B4-BE49-F238E27FC236}">
                    <a16:creationId xmlns:a16="http://schemas.microsoft.com/office/drawing/2014/main" id="{021FE07F-E9DB-428E-864C-12ABBB046C13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22" name="Freeform 13">
                  <a:extLst>
                    <a:ext uri="{FF2B5EF4-FFF2-40B4-BE49-F238E27FC236}">
                      <a16:creationId xmlns:a16="http://schemas.microsoft.com/office/drawing/2014/main" id="{8251ED56-D5C4-4244-B7B8-9CC65D6F8A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3" name="Freeform 14">
                  <a:extLst>
                    <a:ext uri="{FF2B5EF4-FFF2-40B4-BE49-F238E27FC236}">
                      <a16:creationId xmlns:a16="http://schemas.microsoft.com/office/drawing/2014/main" id="{ECE11028-B7CA-451E-851D-176871A08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4" name="Freeform 15">
                  <a:extLst>
                    <a:ext uri="{FF2B5EF4-FFF2-40B4-BE49-F238E27FC236}">
                      <a16:creationId xmlns:a16="http://schemas.microsoft.com/office/drawing/2014/main" id="{C663966C-C5F6-4AF2-AC81-EF7A040B74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5" name="Freeform 16">
                  <a:extLst>
                    <a:ext uri="{FF2B5EF4-FFF2-40B4-BE49-F238E27FC236}">
                      <a16:creationId xmlns:a16="http://schemas.microsoft.com/office/drawing/2014/main" id="{1231452A-2DB6-4628-B13E-989E319678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6" name="Freeform 17">
                  <a:extLst>
                    <a:ext uri="{FF2B5EF4-FFF2-40B4-BE49-F238E27FC236}">
                      <a16:creationId xmlns:a16="http://schemas.microsoft.com/office/drawing/2014/main" id="{02B5F533-7190-4486-800E-50B9DEE2EC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7" name="Freeform 18">
                  <a:extLst>
                    <a:ext uri="{FF2B5EF4-FFF2-40B4-BE49-F238E27FC236}">
                      <a16:creationId xmlns:a16="http://schemas.microsoft.com/office/drawing/2014/main" id="{E1197ACF-D4F7-4F4F-B51B-31BAB03203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8" name="Freeform 19">
                  <a:extLst>
                    <a:ext uri="{FF2B5EF4-FFF2-40B4-BE49-F238E27FC236}">
                      <a16:creationId xmlns:a16="http://schemas.microsoft.com/office/drawing/2014/main" id="{305C916E-AA00-40D3-979E-8385C880D1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29" name="Freeform 20">
                  <a:extLst>
                    <a:ext uri="{FF2B5EF4-FFF2-40B4-BE49-F238E27FC236}">
                      <a16:creationId xmlns:a16="http://schemas.microsoft.com/office/drawing/2014/main" id="{606A4951-C43E-4D62-8601-77DAE03DB7A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30" name="Freeform 21">
                  <a:extLst>
                    <a:ext uri="{FF2B5EF4-FFF2-40B4-BE49-F238E27FC236}">
                      <a16:creationId xmlns:a16="http://schemas.microsoft.com/office/drawing/2014/main" id="{E4DF5AB0-92B8-4555-8BFE-FEB94F35CC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20" name="Freeform 25">
                <a:extLst>
                  <a:ext uri="{FF2B5EF4-FFF2-40B4-BE49-F238E27FC236}">
                    <a16:creationId xmlns:a16="http://schemas.microsoft.com/office/drawing/2014/main" id="{C904AC4F-21D6-40FC-874A-C69831B8A24B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21" name="Oval 6">
                <a:extLst>
                  <a:ext uri="{FF2B5EF4-FFF2-40B4-BE49-F238E27FC236}">
                    <a16:creationId xmlns:a16="http://schemas.microsoft.com/office/drawing/2014/main" id="{008AEF74-0CB4-4F9D-941F-B3FDCFD4AC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FF43D9F-F201-460A-B5AB-10C4C6323FC9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localhost:7077</a:t>
              </a:r>
            </a:p>
          </p:txBody>
        </p:sp>
        <p:sp>
          <p:nvSpPr>
            <p:cNvPr id="11" name="Freeform 29">
              <a:extLst>
                <a:ext uri="{FF2B5EF4-FFF2-40B4-BE49-F238E27FC236}">
                  <a16:creationId xmlns:a16="http://schemas.microsoft.com/office/drawing/2014/main" id="{773BAD95-B78D-42DD-A801-8B84C3BF53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grpSp>
        <p:nvGrpSpPr>
          <p:cNvPr id="31" name="Group 82">
            <a:extLst>
              <a:ext uri="{FF2B5EF4-FFF2-40B4-BE49-F238E27FC236}">
                <a16:creationId xmlns:a16="http://schemas.microsoft.com/office/drawing/2014/main" id="{476BE634-6695-4A59-B9FD-6815B89BADCA}"/>
              </a:ext>
            </a:extLst>
          </p:cNvPr>
          <p:cNvGrpSpPr>
            <a:grpSpLocks noChangeAspect="1"/>
          </p:cNvGrpSpPr>
          <p:nvPr/>
        </p:nvGrpSpPr>
        <p:grpSpPr>
          <a:xfrm>
            <a:off x="6794022" y="1149443"/>
            <a:ext cx="4267960" cy="2822929"/>
            <a:chOff x="1027152" y="2693983"/>
            <a:chExt cx="6796849" cy="4462905"/>
          </a:xfrm>
        </p:grpSpPr>
        <p:grpSp>
          <p:nvGrpSpPr>
            <p:cNvPr id="32" name="Group 83">
              <a:extLst>
                <a:ext uri="{FF2B5EF4-FFF2-40B4-BE49-F238E27FC236}">
                  <a16:creationId xmlns:a16="http://schemas.microsoft.com/office/drawing/2014/main" id="{F753F412-8864-4B46-BFBD-0C8E827679D2}"/>
                </a:ext>
              </a:extLst>
            </p:cNvPr>
            <p:cNvGrpSpPr/>
            <p:nvPr/>
          </p:nvGrpSpPr>
          <p:grpSpPr>
            <a:xfrm>
              <a:off x="1027152" y="2693983"/>
              <a:ext cx="6796849" cy="4462905"/>
              <a:chOff x="1027152" y="2693983"/>
              <a:chExt cx="6796849" cy="4462905"/>
            </a:xfrm>
          </p:grpSpPr>
          <p:sp>
            <p:nvSpPr>
              <p:cNvPr id="35" name="AutoShape 1">
                <a:extLst>
                  <a:ext uri="{FF2B5EF4-FFF2-40B4-BE49-F238E27FC236}">
                    <a16:creationId xmlns:a16="http://schemas.microsoft.com/office/drawing/2014/main" id="{48F16F12-B004-4ABE-AAA8-42D597EFD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29339" y="2693983"/>
                <a:ext cx="6794662" cy="4462905"/>
              </a:xfrm>
              <a:prstGeom prst="roundRect">
                <a:avLst>
                  <a:gd name="adj" fmla="val 1292"/>
                </a:avLst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6" name="Rectangle 2">
                <a:extLst>
                  <a:ext uri="{FF2B5EF4-FFF2-40B4-BE49-F238E27FC236}">
                    <a16:creationId xmlns:a16="http://schemas.microsoft.com/office/drawing/2014/main" id="{92CE4B65-6103-4C38-92A7-2A427C04B8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27152" y="3024940"/>
                <a:ext cx="6794663" cy="315914"/>
              </a:xfrm>
              <a:prstGeom prst="rect">
                <a:avLst/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7" name="AutoShape 3">
                <a:extLst>
                  <a:ext uri="{FF2B5EF4-FFF2-40B4-BE49-F238E27FC236}">
                    <a16:creationId xmlns:a16="http://schemas.microsoft.com/office/drawing/2014/main" id="{297699FF-7AA4-40F4-81BC-DF7B89B3F7D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35351" y="2779230"/>
                <a:ext cx="2717865" cy="561624"/>
              </a:xfrm>
              <a:prstGeom prst="roundRect">
                <a:avLst>
                  <a:gd name="adj" fmla="val 11986"/>
                </a:avLst>
              </a:prstGeom>
              <a:solidFill>
                <a:schemeClr val="accent6">
                  <a:lumMod val="50000"/>
                </a:schemeClr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8" name="Oval 4">
                <a:extLst>
                  <a:ext uri="{FF2B5EF4-FFF2-40B4-BE49-F238E27FC236}">
                    <a16:creationId xmlns:a16="http://schemas.microsoft.com/office/drawing/2014/main" id="{D68B6E0E-D3C7-4493-A31B-8207DAE9C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7753" y="2814331"/>
                <a:ext cx="95903" cy="95276"/>
              </a:xfrm>
              <a:prstGeom prst="ellipse">
                <a:avLst/>
              </a:prstGeom>
              <a:solidFill>
                <a:schemeClr val="accent2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39" name="Oval 5">
                <a:extLst>
                  <a:ext uri="{FF2B5EF4-FFF2-40B4-BE49-F238E27FC236}">
                    <a16:creationId xmlns:a16="http://schemas.microsoft.com/office/drawing/2014/main" id="{AA3A8A3A-E81C-4F16-9EA2-9F11A9775E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620" y="2814331"/>
                <a:ext cx="95903" cy="95276"/>
              </a:xfrm>
              <a:prstGeom prst="ellipse">
                <a:avLst/>
              </a:prstGeom>
              <a:solidFill>
                <a:schemeClr val="accent3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0" name="Oval 6">
                <a:extLst>
                  <a:ext uri="{FF2B5EF4-FFF2-40B4-BE49-F238E27FC236}">
                    <a16:creationId xmlns:a16="http://schemas.microsoft.com/office/drawing/2014/main" id="{539165D2-E0B0-4B91-BDF2-5FF535A72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486" y="2814331"/>
                <a:ext cx="95903" cy="95276"/>
              </a:xfrm>
              <a:prstGeom prst="ellipse">
                <a:avLst/>
              </a:prstGeom>
              <a:solidFill>
                <a:schemeClr val="accent4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1" name="Rectangle 92">
                <a:extLst>
                  <a:ext uri="{FF2B5EF4-FFF2-40B4-BE49-F238E27FC236}">
                    <a16:creationId xmlns:a16="http://schemas.microsoft.com/office/drawing/2014/main" id="{B58995FD-774E-443F-8F74-D69C353CA9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5844" y="3085114"/>
                <a:ext cx="5104773" cy="200580"/>
              </a:xfrm>
              <a:prstGeom prst="rect">
                <a:avLst/>
              </a:prstGeom>
              <a:solidFill>
                <a:srgbClr val="FFFFFF"/>
              </a:solidFill>
              <a:ln w="25400" cap="flat">
                <a:solidFill>
                  <a:srgbClr val="B3B3B3"/>
                </a:solidFill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  <p:grpSp>
            <p:nvGrpSpPr>
              <p:cNvPr id="42" name="Group 93">
                <a:extLst>
                  <a:ext uri="{FF2B5EF4-FFF2-40B4-BE49-F238E27FC236}">
                    <a16:creationId xmlns:a16="http://schemas.microsoft.com/office/drawing/2014/main" id="{022AA45E-1A3D-4A3B-B08F-4D64E6102BF2}"/>
                  </a:ext>
                </a:extLst>
              </p:cNvPr>
              <p:cNvGrpSpPr/>
              <p:nvPr/>
            </p:nvGrpSpPr>
            <p:grpSpPr>
              <a:xfrm>
                <a:off x="7494380" y="2779230"/>
                <a:ext cx="155357" cy="155272"/>
                <a:chOff x="4763" y="0"/>
                <a:chExt cx="2900362" cy="2898775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45" name="Freeform 13">
                  <a:extLst>
                    <a:ext uri="{FF2B5EF4-FFF2-40B4-BE49-F238E27FC236}">
                      <a16:creationId xmlns:a16="http://schemas.microsoft.com/office/drawing/2014/main" id="{2EE8F120-DDD5-495E-8097-10825D0A1E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0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2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6" name="Freeform 14">
                  <a:extLst>
                    <a:ext uri="{FF2B5EF4-FFF2-40B4-BE49-F238E27FC236}">
                      <a16:creationId xmlns:a16="http://schemas.microsoft.com/office/drawing/2014/main" id="{899F88D3-5C91-4BBA-BE63-9371B4B356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1087438"/>
                  <a:ext cx="727075" cy="722313"/>
                </a:xfrm>
                <a:custGeom>
                  <a:avLst/>
                  <a:gdLst>
                    <a:gd name="T0" fmla="*/ 168 w 193"/>
                    <a:gd name="T1" fmla="*/ 0 h 192"/>
                    <a:gd name="T2" fmla="*/ 24 w 193"/>
                    <a:gd name="T3" fmla="*/ 0 h 192"/>
                    <a:gd name="T4" fmla="*/ 0 w 193"/>
                    <a:gd name="T5" fmla="*/ 24 h 192"/>
                    <a:gd name="T6" fmla="*/ 0 w 193"/>
                    <a:gd name="T7" fmla="*/ 168 h 192"/>
                    <a:gd name="T8" fmla="*/ 24 w 193"/>
                    <a:gd name="T9" fmla="*/ 192 h 192"/>
                    <a:gd name="T10" fmla="*/ 168 w 193"/>
                    <a:gd name="T11" fmla="*/ 192 h 192"/>
                    <a:gd name="T12" fmla="*/ 193 w 193"/>
                    <a:gd name="T13" fmla="*/ 168 h 192"/>
                    <a:gd name="T14" fmla="*/ 193 w 193"/>
                    <a:gd name="T15" fmla="*/ 24 h 192"/>
                    <a:gd name="T16" fmla="*/ 168 w 193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2" y="192"/>
                        <a:pt x="193" y="181"/>
                        <a:pt x="193" y="168"/>
                      </a:cubicBezTo>
                      <a:cubicBezTo>
                        <a:pt x="193" y="24"/>
                        <a:pt x="193" y="24"/>
                        <a:pt x="193" y="24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7" name="Freeform 15">
                  <a:extLst>
                    <a:ext uri="{FF2B5EF4-FFF2-40B4-BE49-F238E27FC236}">
                      <a16:creationId xmlns:a16="http://schemas.microsoft.com/office/drawing/2014/main" id="{C1C5DCC2-9B40-4DA3-AB2F-ED9C5D891C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763" y="2171700"/>
                  <a:ext cx="727075" cy="727075"/>
                </a:xfrm>
                <a:custGeom>
                  <a:avLst/>
                  <a:gdLst>
                    <a:gd name="T0" fmla="*/ 168 w 193"/>
                    <a:gd name="T1" fmla="*/ 0 h 193"/>
                    <a:gd name="T2" fmla="*/ 24 w 193"/>
                    <a:gd name="T3" fmla="*/ 0 h 193"/>
                    <a:gd name="T4" fmla="*/ 0 w 193"/>
                    <a:gd name="T5" fmla="*/ 25 h 193"/>
                    <a:gd name="T6" fmla="*/ 0 w 193"/>
                    <a:gd name="T7" fmla="*/ 169 h 193"/>
                    <a:gd name="T8" fmla="*/ 24 w 193"/>
                    <a:gd name="T9" fmla="*/ 193 h 193"/>
                    <a:gd name="T10" fmla="*/ 168 w 193"/>
                    <a:gd name="T11" fmla="*/ 193 h 193"/>
                    <a:gd name="T12" fmla="*/ 193 w 193"/>
                    <a:gd name="T13" fmla="*/ 169 h 193"/>
                    <a:gd name="T14" fmla="*/ 193 w 193"/>
                    <a:gd name="T15" fmla="*/ 25 h 193"/>
                    <a:gd name="T16" fmla="*/ 168 w 193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3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2" y="193"/>
                        <a:pt x="193" y="182"/>
                        <a:pt x="193" y="169"/>
                      </a:cubicBezTo>
                      <a:cubicBezTo>
                        <a:pt x="193" y="25"/>
                        <a:pt x="193" y="25"/>
                        <a:pt x="193" y="25"/>
                      </a:cubicBezTo>
                      <a:cubicBezTo>
                        <a:pt x="193" y="11"/>
                        <a:pt x="182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8" name="Freeform 16">
                  <a:extLst>
                    <a:ext uri="{FF2B5EF4-FFF2-40B4-BE49-F238E27FC236}">
                      <a16:creationId xmlns:a16="http://schemas.microsoft.com/office/drawing/2014/main" id="{0721D991-881C-4DBE-AF30-E47AE304B7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0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49" name="Freeform 17">
                  <a:extLst>
                    <a:ext uri="{FF2B5EF4-FFF2-40B4-BE49-F238E27FC236}">
                      <a16:creationId xmlns:a16="http://schemas.microsoft.com/office/drawing/2014/main" id="{97111254-2A6F-40F4-8741-1C703E43B9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1087438"/>
                  <a:ext cx="722312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1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0" name="Freeform 18">
                  <a:extLst>
                    <a:ext uri="{FF2B5EF4-FFF2-40B4-BE49-F238E27FC236}">
                      <a16:creationId xmlns:a16="http://schemas.microsoft.com/office/drawing/2014/main" id="{3448ADF5-3363-4495-90EA-D3397EA0A3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93788" y="2171700"/>
                  <a:ext cx="722312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1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1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1" name="Freeform 19">
                  <a:extLst>
                    <a:ext uri="{FF2B5EF4-FFF2-40B4-BE49-F238E27FC236}">
                      <a16:creationId xmlns:a16="http://schemas.microsoft.com/office/drawing/2014/main" id="{A11FFFD8-A688-46DB-9518-83D23CB9AE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0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2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2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2" name="Freeform 20">
                  <a:extLst>
                    <a:ext uri="{FF2B5EF4-FFF2-40B4-BE49-F238E27FC236}">
                      <a16:creationId xmlns:a16="http://schemas.microsoft.com/office/drawing/2014/main" id="{3B48C2AB-505E-4332-A44A-9D533A6504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1087438"/>
                  <a:ext cx="723900" cy="722313"/>
                </a:xfrm>
                <a:custGeom>
                  <a:avLst/>
                  <a:gdLst>
                    <a:gd name="T0" fmla="*/ 168 w 192"/>
                    <a:gd name="T1" fmla="*/ 0 h 192"/>
                    <a:gd name="T2" fmla="*/ 24 w 192"/>
                    <a:gd name="T3" fmla="*/ 0 h 192"/>
                    <a:gd name="T4" fmla="*/ 0 w 192"/>
                    <a:gd name="T5" fmla="*/ 24 h 192"/>
                    <a:gd name="T6" fmla="*/ 0 w 192"/>
                    <a:gd name="T7" fmla="*/ 168 h 192"/>
                    <a:gd name="T8" fmla="*/ 24 w 192"/>
                    <a:gd name="T9" fmla="*/ 192 h 192"/>
                    <a:gd name="T10" fmla="*/ 168 w 192"/>
                    <a:gd name="T11" fmla="*/ 192 h 192"/>
                    <a:gd name="T12" fmla="*/ 192 w 192"/>
                    <a:gd name="T13" fmla="*/ 168 h 192"/>
                    <a:gd name="T14" fmla="*/ 192 w 192"/>
                    <a:gd name="T15" fmla="*/ 24 h 192"/>
                    <a:gd name="T16" fmla="*/ 168 w 192"/>
                    <a:gd name="T17" fmla="*/ 0 h 1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2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4"/>
                      </a:cubicBezTo>
                      <a:cubicBezTo>
                        <a:pt x="0" y="168"/>
                        <a:pt x="0" y="168"/>
                        <a:pt x="0" y="168"/>
                      </a:cubicBezTo>
                      <a:cubicBezTo>
                        <a:pt x="0" y="181"/>
                        <a:pt x="10" y="192"/>
                        <a:pt x="24" y="192"/>
                      </a:cubicBezTo>
                      <a:cubicBezTo>
                        <a:pt x="168" y="192"/>
                        <a:pt x="168" y="192"/>
                        <a:pt x="168" y="192"/>
                      </a:cubicBezTo>
                      <a:cubicBezTo>
                        <a:pt x="181" y="192"/>
                        <a:pt x="192" y="181"/>
                        <a:pt x="192" y="168"/>
                      </a:cubicBezTo>
                      <a:cubicBezTo>
                        <a:pt x="192" y="24"/>
                        <a:pt x="192" y="24"/>
                        <a:pt x="192" y="24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  <p:sp>
              <p:nvSpPr>
                <p:cNvPr id="53" name="Freeform 21">
                  <a:extLst>
                    <a:ext uri="{FF2B5EF4-FFF2-40B4-BE49-F238E27FC236}">
                      <a16:creationId xmlns:a16="http://schemas.microsoft.com/office/drawing/2014/main" id="{EBFBAB80-64C2-4E27-A1CC-A218E6C356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181225" y="2171700"/>
                  <a:ext cx="723900" cy="727075"/>
                </a:xfrm>
                <a:custGeom>
                  <a:avLst/>
                  <a:gdLst>
                    <a:gd name="T0" fmla="*/ 168 w 192"/>
                    <a:gd name="T1" fmla="*/ 0 h 193"/>
                    <a:gd name="T2" fmla="*/ 24 w 192"/>
                    <a:gd name="T3" fmla="*/ 0 h 193"/>
                    <a:gd name="T4" fmla="*/ 0 w 192"/>
                    <a:gd name="T5" fmla="*/ 25 h 193"/>
                    <a:gd name="T6" fmla="*/ 0 w 192"/>
                    <a:gd name="T7" fmla="*/ 169 h 193"/>
                    <a:gd name="T8" fmla="*/ 24 w 192"/>
                    <a:gd name="T9" fmla="*/ 193 h 193"/>
                    <a:gd name="T10" fmla="*/ 168 w 192"/>
                    <a:gd name="T11" fmla="*/ 193 h 193"/>
                    <a:gd name="T12" fmla="*/ 192 w 192"/>
                    <a:gd name="T13" fmla="*/ 169 h 193"/>
                    <a:gd name="T14" fmla="*/ 192 w 192"/>
                    <a:gd name="T15" fmla="*/ 25 h 193"/>
                    <a:gd name="T16" fmla="*/ 168 w 192"/>
                    <a:gd name="T17" fmla="*/ 0 h 1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93">
                      <a:moveTo>
                        <a:pt x="168" y="0"/>
                      </a:moveTo>
                      <a:cubicBezTo>
                        <a:pt x="24" y="0"/>
                        <a:pt x="24" y="0"/>
                        <a:pt x="24" y="0"/>
                      </a:cubicBezTo>
                      <a:cubicBezTo>
                        <a:pt x="10" y="0"/>
                        <a:pt x="0" y="11"/>
                        <a:pt x="0" y="25"/>
                      </a:cubicBezTo>
                      <a:cubicBezTo>
                        <a:pt x="0" y="169"/>
                        <a:pt x="0" y="169"/>
                        <a:pt x="0" y="169"/>
                      </a:cubicBezTo>
                      <a:cubicBezTo>
                        <a:pt x="0" y="182"/>
                        <a:pt x="10" y="193"/>
                        <a:pt x="24" y="193"/>
                      </a:cubicBezTo>
                      <a:cubicBezTo>
                        <a:pt x="168" y="193"/>
                        <a:pt x="168" y="193"/>
                        <a:pt x="168" y="193"/>
                      </a:cubicBezTo>
                      <a:cubicBezTo>
                        <a:pt x="181" y="193"/>
                        <a:pt x="192" y="182"/>
                        <a:pt x="192" y="169"/>
                      </a:cubicBezTo>
                      <a:cubicBezTo>
                        <a:pt x="192" y="25"/>
                        <a:pt x="192" y="25"/>
                        <a:pt x="192" y="25"/>
                      </a:cubicBezTo>
                      <a:cubicBezTo>
                        <a:pt x="192" y="11"/>
                        <a:pt x="181" y="0"/>
                        <a:pt x="16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=""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id-ID" dirty="0">
                    <a:latin typeface="Lato Light"/>
                  </a:endParaRPr>
                </a:p>
              </p:txBody>
            </p:sp>
          </p:grpSp>
          <p:sp>
            <p:nvSpPr>
              <p:cNvPr id="43" name="Freeform 25">
                <a:extLst>
                  <a:ext uri="{FF2B5EF4-FFF2-40B4-BE49-F238E27FC236}">
                    <a16:creationId xmlns:a16="http://schemas.microsoft.com/office/drawing/2014/main" id="{27106E3B-5EE5-442B-87E5-0B8163B9997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7497092" y="3115886"/>
                <a:ext cx="146921" cy="128651"/>
              </a:xfrm>
              <a:custGeom>
                <a:avLst/>
                <a:gdLst>
                  <a:gd name="T0" fmla="*/ 504 w 896"/>
                  <a:gd name="T1" fmla="*/ 0 h 784"/>
                  <a:gd name="T2" fmla="*/ 116 w 896"/>
                  <a:gd name="T3" fmla="*/ 336 h 784"/>
                  <a:gd name="T4" fmla="*/ 0 w 896"/>
                  <a:gd name="T5" fmla="*/ 336 h 784"/>
                  <a:gd name="T6" fmla="*/ 168 w 896"/>
                  <a:gd name="T7" fmla="*/ 560 h 784"/>
                  <a:gd name="T8" fmla="*/ 336 w 896"/>
                  <a:gd name="T9" fmla="*/ 336 h 784"/>
                  <a:gd name="T10" fmla="*/ 230 w 896"/>
                  <a:gd name="T11" fmla="*/ 336 h 784"/>
                  <a:gd name="T12" fmla="*/ 504 w 896"/>
                  <a:gd name="T13" fmla="*/ 112 h 784"/>
                  <a:gd name="T14" fmla="*/ 784 w 896"/>
                  <a:gd name="T15" fmla="*/ 392 h 784"/>
                  <a:gd name="T16" fmla="*/ 504 w 896"/>
                  <a:gd name="T17" fmla="*/ 672 h 784"/>
                  <a:gd name="T18" fmla="*/ 504 w 896"/>
                  <a:gd name="T19" fmla="*/ 784 h 784"/>
                  <a:gd name="T20" fmla="*/ 896 w 896"/>
                  <a:gd name="T21" fmla="*/ 392 h 784"/>
                  <a:gd name="T22" fmla="*/ 504 w 896"/>
                  <a:gd name="T23" fmla="*/ 0 h 7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96" h="784">
                    <a:moveTo>
                      <a:pt x="504" y="0"/>
                    </a:moveTo>
                    <a:cubicBezTo>
                      <a:pt x="307" y="0"/>
                      <a:pt x="144" y="146"/>
                      <a:pt x="116" y="336"/>
                    </a:cubicBezTo>
                    <a:cubicBezTo>
                      <a:pt x="0" y="336"/>
                      <a:pt x="0" y="336"/>
                      <a:pt x="0" y="336"/>
                    </a:cubicBezTo>
                    <a:cubicBezTo>
                      <a:pt x="168" y="560"/>
                      <a:pt x="168" y="560"/>
                      <a:pt x="168" y="560"/>
                    </a:cubicBezTo>
                    <a:cubicBezTo>
                      <a:pt x="336" y="336"/>
                      <a:pt x="336" y="336"/>
                      <a:pt x="336" y="336"/>
                    </a:cubicBezTo>
                    <a:cubicBezTo>
                      <a:pt x="230" y="336"/>
                      <a:pt x="230" y="336"/>
                      <a:pt x="230" y="336"/>
                    </a:cubicBezTo>
                    <a:cubicBezTo>
                      <a:pt x="256" y="208"/>
                      <a:pt x="369" y="112"/>
                      <a:pt x="504" y="112"/>
                    </a:cubicBezTo>
                    <a:cubicBezTo>
                      <a:pt x="658" y="112"/>
                      <a:pt x="784" y="238"/>
                      <a:pt x="784" y="392"/>
                    </a:cubicBezTo>
                    <a:cubicBezTo>
                      <a:pt x="784" y="546"/>
                      <a:pt x="658" y="672"/>
                      <a:pt x="504" y="672"/>
                    </a:cubicBezTo>
                    <a:cubicBezTo>
                      <a:pt x="504" y="784"/>
                      <a:pt x="504" y="784"/>
                      <a:pt x="504" y="784"/>
                    </a:cubicBezTo>
                    <a:cubicBezTo>
                      <a:pt x="721" y="784"/>
                      <a:pt x="896" y="609"/>
                      <a:pt x="896" y="392"/>
                    </a:cubicBezTo>
                    <a:cubicBezTo>
                      <a:pt x="896" y="175"/>
                      <a:pt x="721" y="0"/>
                      <a:pt x="504" y="0"/>
                    </a:cubicBezTo>
                    <a:close/>
                  </a:path>
                </a:pathLst>
              </a:custGeom>
              <a:solidFill>
                <a:schemeClr val="bg1">
                  <a:lumMod val="50000"/>
                </a:schemeClr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id-ID" dirty="0">
                  <a:latin typeface="Lato Light"/>
                </a:endParaRPr>
              </a:p>
            </p:txBody>
          </p:sp>
          <p:sp>
            <p:nvSpPr>
              <p:cNvPr id="44" name="Oval 6">
                <a:extLst>
                  <a:ext uri="{FF2B5EF4-FFF2-40B4-BE49-F238E27FC236}">
                    <a16:creationId xmlns:a16="http://schemas.microsoft.com/office/drawing/2014/main" id="{AFFAA0AD-114A-4831-ACE3-B8C4258E3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5635" y="2814331"/>
                <a:ext cx="95903" cy="95276"/>
              </a:xfrm>
              <a:prstGeom prst="ellipse">
                <a:avLst/>
              </a:prstGeom>
              <a:solidFill>
                <a:schemeClr val="accent5"/>
              </a:solidFill>
              <a:ln w="25400" cap="flat">
                <a:noFill/>
                <a:prstDash val="solid"/>
                <a:miter lim="800000"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id-ID" dirty="0">
                  <a:latin typeface="Lato Light"/>
                </a:endParaRPr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4BEAEF8-91EF-49C8-A667-2BC7D51C2397}"/>
                </a:ext>
              </a:extLst>
            </p:cNvPr>
            <p:cNvSpPr txBox="1"/>
            <p:nvPr/>
          </p:nvSpPr>
          <p:spPr>
            <a:xfrm>
              <a:off x="2391108" y="2996115"/>
              <a:ext cx="1593994" cy="3970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id-ID" sz="1000" dirty="0">
                  <a:solidFill>
                    <a:schemeClr val="tx1"/>
                  </a:solidFill>
                  <a:latin typeface="Poppins Light" charset="0"/>
                  <a:ea typeface="Poppins Light" charset="0"/>
                  <a:cs typeface="Poppins Light" charset="0"/>
                </a:rPr>
                <a:t>localhost:7077</a:t>
              </a:r>
            </a:p>
          </p:txBody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1C88632E-4E09-404A-9868-C0997FA11EA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69943" y="3130076"/>
              <a:ext cx="115372" cy="115448"/>
            </a:xfrm>
            <a:custGeom>
              <a:avLst/>
              <a:gdLst>
                <a:gd name="T0" fmla="*/ 0 w 636"/>
                <a:gd name="T1" fmla="*/ 318 h 636"/>
                <a:gd name="T2" fmla="*/ 636 w 636"/>
                <a:gd name="T3" fmla="*/ 318 h 636"/>
                <a:gd name="T4" fmla="*/ 594 w 636"/>
                <a:gd name="T5" fmla="*/ 308 h 636"/>
                <a:gd name="T6" fmla="*/ 448 w 636"/>
                <a:gd name="T7" fmla="*/ 179 h 636"/>
                <a:gd name="T8" fmla="*/ 594 w 636"/>
                <a:gd name="T9" fmla="*/ 308 h 636"/>
                <a:gd name="T10" fmla="*/ 223 w 636"/>
                <a:gd name="T11" fmla="*/ 486 h 636"/>
                <a:gd name="T12" fmla="*/ 308 w 636"/>
                <a:gd name="T13" fmla="*/ 594 h 636"/>
                <a:gd name="T14" fmla="*/ 329 w 636"/>
                <a:gd name="T15" fmla="*/ 42 h 636"/>
                <a:gd name="T16" fmla="*/ 328 w 636"/>
                <a:gd name="T17" fmla="*/ 184 h 636"/>
                <a:gd name="T18" fmla="*/ 329 w 636"/>
                <a:gd name="T19" fmla="*/ 42 h 636"/>
                <a:gd name="T20" fmla="*/ 510 w 636"/>
                <a:gd name="T21" fmla="*/ 119 h 636"/>
                <a:gd name="T22" fmla="*/ 363 w 636"/>
                <a:gd name="T23" fmla="*/ 45 h 636"/>
                <a:gd name="T24" fmla="*/ 308 w 636"/>
                <a:gd name="T25" fmla="*/ 184 h 636"/>
                <a:gd name="T26" fmla="*/ 307 w 636"/>
                <a:gd name="T27" fmla="*/ 42 h 636"/>
                <a:gd name="T28" fmla="*/ 196 w 636"/>
                <a:gd name="T29" fmla="*/ 160 h 636"/>
                <a:gd name="T30" fmla="*/ 273 w 636"/>
                <a:gd name="T31" fmla="*/ 45 h 636"/>
                <a:gd name="T32" fmla="*/ 207 w 636"/>
                <a:gd name="T33" fmla="*/ 186 h 636"/>
                <a:gd name="T34" fmla="*/ 308 w 636"/>
                <a:gd name="T35" fmla="*/ 308 h 636"/>
                <a:gd name="T36" fmla="*/ 207 w 636"/>
                <a:gd name="T37" fmla="*/ 186 h 636"/>
                <a:gd name="T38" fmla="*/ 308 w 636"/>
                <a:gd name="T39" fmla="*/ 452 h 636"/>
                <a:gd name="T40" fmla="*/ 185 w 636"/>
                <a:gd name="T41" fmla="*/ 328 h 636"/>
                <a:gd name="T42" fmla="*/ 273 w 636"/>
                <a:gd name="T43" fmla="*/ 591 h 636"/>
                <a:gd name="T44" fmla="*/ 204 w 636"/>
                <a:gd name="T45" fmla="*/ 493 h 636"/>
                <a:gd name="T46" fmla="*/ 328 w 636"/>
                <a:gd name="T47" fmla="*/ 594 h 636"/>
                <a:gd name="T48" fmla="*/ 413 w 636"/>
                <a:gd name="T49" fmla="*/ 486 h 636"/>
                <a:gd name="T50" fmla="*/ 328 w 636"/>
                <a:gd name="T51" fmla="*/ 594 h 636"/>
                <a:gd name="T52" fmla="*/ 498 w 636"/>
                <a:gd name="T53" fmla="*/ 528 h 636"/>
                <a:gd name="T54" fmla="*/ 432 w 636"/>
                <a:gd name="T55" fmla="*/ 493 h 636"/>
                <a:gd name="T56" fmla="*/ 328 w 636"/>
                <a:gd name="T57" fmla="*/ 452 h 636"/>
                <a:gd name="T58" fmla="*/ 451 w 636"/>
                <a:gd name="T59" fmla="*/ 328 h 636"/>
                <a:gd name="T60" fmla="*/ 328 w 636"/>
                <a:gd name="T61" fmla="*/ 308 h 636"/>
                <a:gd name="T62" fmla="*/ 429 w 636"/>
                <a:gd name="T63" fmla="*/ 186 h 636"/>
                <a:gd name="T64" fmla="*/ 328 w 636"/>
                <a:gd name="T65" fmla="*/ 308 h 636"/>
                <a:gd name="T66" fmla="*/ 188 w 636"/>
                <a:gd name="T67" fmla="*/ 179 h 636"/>
                <a:gd name="T68" fmla="*/ 42 w 636"/>
                <a:gd name="T69" fmla="*/ 308 h 636"/>
                <a:gd name="T70" fmla="*/ 42 w 636"/>
                <a:gd name="T71" fmla="*/ 328 h 636"/>
                <a:gd name="T72" fmla="*/ 195 w 636"/>
                <a:gd name="T73" fmla="*/ 475 h 636"/>
                <a:gd name="T74" fmla="*/ 42 w 636"/>
                <a:gd name="T75" fmla="*/ 328 h 636"/>
                <a:gd name="T76" fmla="*/ 441 w 636"/>
                <a:gd name="T77" fmla="*/ 475 h 636"/>
                <a:gd name="T78" fmla="*/ 594 w 636"/>
                <a:gd name="T79" fmla="*/ 328 h 6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36" h="636">
                  <a:moveTo>
                    <a:pt x="318" y="0"/>
                  </a:moveTo>
                  <a:cubicBezTo>
                    <a:pt x="142" y="0"/>
                    <a:pt x="0" y="142"/>
                    <a:pt x="0" y="318"/>
                  </a:cubicBezTo>
                  <a:cubicBezTo>
                    <a:pt x="0" y="494"/>
                    <a:pt x="142" y="636"/>
                    <a:pt x="318" y="636"/>
                  </a:cubicBezTo>
                  <a:cubicBezTo>
                    <a:pt x="494" y="636"/>
                    <a:pt x="636" y="494"/>
                    <a:pt x="636" y="318"/>
                  </a:cubicBezTo>
                  <a:cubicBezTo>
                    <a:pt x="636" y="142"/>
                    <a:pt x="494" y="0"/>
                    <a:pt x="318" y="0"/>
                  </a:cubicBezTo>
                  <a:close/>
                  <a:moveTo>
                    <a:pt x="594" y="308"/>
                  </a:moveTo>
                  <a:cubicBezTo>
                    <a:pt x="471" y="308"/>
                    <a:pt x="471" y="308"/>
                    <a:pt x="471" y="308"/>
                  </a:cubicBezTo>
                  <a:cubicBezTo>
                    <a:pt x="470" y="262"/>
                    <a:pt x="462" y="219"/>
                    <a:pt x="448" y="179"/>
                  </a:cubicBezTo>
                  <a:cubicBezTo>
                    <a:pt x="476" y="168"/>
                    <a:pt x="501" y="152"/>
                    <a:pt x="525" y="134"/>
                  </a:cubicBezTo>
                  <a:cubicBezTo>
                    <a:pt x="566" y="181"/>
                    <a:pt x="592" y="241"/>
                    <a:pt x="594" y="308"/>
                  </a:cubicBezTo>
                  <a:close/>
                  <a:moveTo>
                    <a:pt x="307" y="594"/>
                  </a:moveTo>
                  <a:cubicBezTo>
                    <a:pt x="273" y="566"/>
                    <a:pt x="244" y="529"/>
                    <a:pt x="223" y="486"/>
                  </a:cubicBezTo>
                  <a:cubicBezTo>
                    <a:pt x="250" y="478"/>
                    <a:pt x="278" y="473"/>
                    <a:pt x="308" y="472"/>
                  </a:cubicBezTo>
                  <a:cubicBezTo>
                    <a:pt x="308" y="594"/>
                    <a:pt x="308" y="594"/>
                    <a:pt x="308" y="594"/>
                  </a:cubicBezTo>
                  <a:cubicBezTo>
                    <a:pt x="307" y="594"/>
                    <a:pt x="307" y="594"/>
                    <a:pt x="307" y="594"/>
                  </a:cubicBezTo>
                  <a:close/>
                  <a:moveTo>
                    <a:pt x="329" y="42"/>
                  </a:moveTo>
                  <a:cubicBezTo>
                    <a:pt x="368" y="74"/>
                    <a:pt x="400" y="117"/>
                    <a:pt x="421" y="167"/>
                  </a:cubicBezTo>
                  <a:cubicBezTo>
                    <a:pt x="392" y="177"/>
                    <a:pt x="361" y="183"/>
                    <a:pt x="328" y="184"/>
                  </a:cubicBezTo>
                  <a:cubicBezTo>
                    <a:pt x="328" y="42"/>
                    <a:pt x="328" y="42"/>
                    <a:pt x="328" y="42"/>
                  </a:cubicBezTo>
                  <a:cubicBezTo>
                    <a:pt x="329" y="42"/>
                    <a:pt x="329" y="42"/>
                    <a:pt x="329" y="42"/>
                  </a:cubicBezTo>
                  <a:close/>
                  <a:moveTo>
                    <a:pt x="363" y="45"/>
                  </a:moveTo>
                  <a:cubicBezTo>
                    <a:pt x="420" y="55"/>
                    <a:pt x="471" y="81"/>
                    <a:pt x="510" y="119"/>
                  </a:cubicBezTo>
                  <a:cubicBezTo>
                    <a:pt x="489" y="136"/>
                    <a:pt x="466" y="150"/>
                    <a:pt x="440" y="160"/>
                  </a:cubicBezTo>
                  <a:cubicBezTo>
                    <a:pt x="421" y="116"/>
                    <a:pt x="395" y="77"/>
                    <a:pt x="363" y="45"/>
                  </a:cubicBezTo>
                  <a:close/>
                  <a:moveTo>
                    <a:pt x="308" y="42"/>
                  </a:moveTo>
                  <a:cubicBezTo>
                    <a:pt x="308" y="184"/>
                    <a:pt x="308" y="184"/>
                    <a:pt x="308" y="184"/>
                  </a:cubicBezTo>
                  <a:cubicBezTo>
                    <a:pt x="275" y="183"/>
                    <a:pt x="244" y="177"/>
                    <a:pt x="215" y="167"/>
                  </a:cubicBezTo>
                  <a:cubicBezTo>
                    <a:pt x="236" y="117"/>
                    <a:pt x="268" y="74"/>
                    <a:pt x="307" y="42"/>
                  </a:cubicBezTo>
                  <a:cubicBezTo>
                    <a:pt x="307" y="42"/>
                    <a:pt x="307" y="42"/>
                    <a:pt x="308" y="42"/>
                  </a:cubicBezTo>
                  <a:close/>
                  <a:moveTo>
                    <a:pt x="196" y="160"/>
                  </a:moveTo>
                  <a:cubicBezTo>
                    <a:pt x="171" y="150"/>
                    <a:pt x="147" y="136"/>
                    <a:pt x="126" y="119"/>
                  </a:cubicBezTo>
                  <a:cubicBezTo>
                    <a:pt x="165" y="81"/>
                    <a:pt x="216" y="55"/>
                    <a:pt x="273" y="45"/>
                  </a:cubicBezTo>
                  <a:cubicBezTo>
                    <a:pt x="241" y="77"/>
                    <a:pt x="215" y="116"/>
                    <a:pt x="196" y="160"/>
                  </a:cubicBezTo>
                  <a:close/>
                  <a:moveTo>
                    <a:pt x="207" y="186"/>
                  </a:moveTo>
                  <a:cubicBezTo>
                    <a:pt x="239" y="197"/>
                    <a:pt x="273" y="204"/>
                    <a:pt x="308" y="205"/>
                  </a:cubicBezTo>
                  <a:cubicBezTo>
                    <a:pt x="308" y="308"/>
                    <a:pt x="308" y="308"/>
                    <a:pt x="308" y="308"/>
                  </a:cubicBezTo>
                  <a:cubicBezTo>
                    <a:pt x="185" y="308"/>
                    <a:pt x="185" y="308"/>
                    <a:pt x="185" y="308"/>
                  </a:cubicBezTo>
                  <a:cubicBezTo>
                    <a:pt x="186" y="265"/>
                    <a:pt x="194" y="224"/>
                    <a:pt x="207" y="186"/>
                  </a:cubicBezTo>
                  <a:close/>
                  <a:moveTo>
                    <a:pt x="308" y="328"/>
                  </a:moveTo>
                  <a:cubicBezTo>
                    <a:pt x="308" y="452"/>
                    <a:pt x="308" y="452"/>
                    <a:pt x="308" y="452"/>
                  </a:cubicBezTo>
                  <a:cubicBezTo>
                    <a:pt x="275" y="453"/>
                    <a:pt x="244" y="458"/>
                    <a:pt x="215" y="468"/>
                  </a:cubicBezTo>
                  <a:cubicBezTo>
                    <a:pt x="197" y="425"/>
                    <a:pt x="186" y="378"/>
                    <a:pt x="185" y="328"/>
                  </a:cubicBezTo>
                  <a:lnTo>
                    <a:pt x="308" y="328"/>
                  </a:lnTo>
                  <a:close/>
                  <a:moveTo>
                    <a:pt x="273" y="591"/>
                  </a:moveTo>
                  <a:cubicBezTo>
                    <a:pt x="222" y="582"/>
                    <a:pt x="176" y="560"/>
                    <a:pt x="138" y="528"/>
                  </a:cubicBezTo>
                  <a:cubicBezTo>
                    <a:pt x="158" y="514"/>
                    <a:pt x="180" y="502"/>
                    <a:pt x="204" y="493"/>
                  </a:cubicBezTo>
                  <a:cubicBezTo>
                    <a:pt x="222" y="531"/>
                    <a:pt x="245" y="563"/>
                    <a:pt x="273" y="591"/>
                  </a:cubicBezTo>
                  <a:close/>
                  <a:moveTo>
                    <a:pt x="328" y="594"/>
                  </a:moveTo>
                  <a:cubicBezTo>
                    <a:pt x="328" y="472"/>
                    <a:pt x="328" y="472"/>
                    <a:pt x="328" y="472"/>
                  </a:cubicBezTo>
                  <a:cubicBezTo>
                    <a:pt x="358" y="473"/>
                    <a:pt x="386" y="478"/>
                    <a:pt x="413" y="486"/>
                  </a:cubicBezTo>
                  <a:cubicBezTo>
                    <a:pt x="392" y="529"/>
                    <a:pt x="363" y="566"/>
                    <a:pt x="329" y="594"/>
                  </a:cubicBezTo>
                  <a:cubicBezTo>
                    <a:pt x="329" y="594"/>
                    <a:pt x="329" y="594"/>
                    <a:pt x="328" y="594"/>
                  </a:cubicBezTo>
                  <a:close/>
                  <a:moveTo>
                    <a:pt x="432" y="493"/>
                  </a:moveTo>
                  <a:cubicBezTo>
                    <a:pt x="456" y="502"/>
                    <a:pt x="478" y="514"/>
                    <a:pt x="498" y="528"/>
                  </a:cubicBezTo>
                  <a:cubicBezTo>
                    <a:pt x="460" y="560"/>
                    <a:pt x="414" y="582"/>
                    <a:pt x="363" y="591"/>
                  </a:cubicBezTo>
                  <a:cubicBezTo>
                    <a:pt x="391" y="563"/>
                    <a:pt x="414" y="531"/>
                    <a:pt x="432" y="493"/>
                  </a:cubicBezTo>
                  <a:close/>
                  <a:moveTo>
                    <a:pt x="421" y="468"/>
                  </a:moveTo>
                  <a:cubicBezTo>
                    <a:pt x="392" y="458"/>
                    <a:pt x="361" y="453"/>
                    <a:pt x="328" y="452"/>
                  </a:cubicBezTo>
                  <a:cubicBezTo>
                    <a:pt x="328" y="328"/>
                    <a:pt x="328" y="328"/>
                    <a:pt x="328" y="328"/>
                  </a:cubicBezTo>
                  <a:cubicBezTo>
                    <a:pt x="451" y="328"/>
                    <a:pt x="451" y="328"/>
                    <a:pt x="451" y="328"/>
                  </a:cubicBezTo>
                  <a:cubicBezTo>
                    <a:pt x="450" y="378"/>
                    <a:pt x="439" y="425"/>
                    <a:pt x="421" y="468"/>
                  </a:cubicBezTo>
                  <a:close/>
                  <a:moveTo>
                    <a:pt x="328" y="308"/>
                  </a:moveTo>
                  <a:cubicBezTo>
                    <a:pt x="328" y="205"/>
                    <a:pt x="328" y="205"/>
                    <a:pt x="328" y="205"/>
                  </a:cubicBezTo>
                  <a:cubicBezTo>
                    <a:pt x="363" y="204"/>
                    <a:pt x="397" y="197"/>
                    <a:pt x="429" y="186"/>
                  </a:cubicBezTo>
                  <a:cubicBezTo>
                    <a:pt x="442" y="224"/>
                    <a:pt x="450" y="265"/>
                    <a:pt x="451" y="308"/>
                  </a:cubicBezTo>
                  <a:lnTo>
                    <a:pt x="328" y="308"/>
                  </a:lnTo>
                  <a:close/>
                  <a:moveTo>
                    <a:pt x="111" y="134"/>
                  </a:moveTo>
                  <a:cubicBezTo>
                    <a:pt x="135" y="152"/>
                    <a:pt x="160" y="168"/>
                    <a:pt x="188" y="179"/>
                  </a:cubicBezTo>
                  <a:cubicBezTo>
                    <a:pt x="174" y="219"/>
                    <a:pt x="166" y="262"/>
                    <a:pt x="165" y="308"/>
                  </a:cubicBezTo>
                  <a:cubicBezTo>
                    <a:pt x="42" y="308"/>
                    <a:pt x="42" y="308"/>
                    <a:pt x="42" y="308"/>
                  </a:cubicBezTo>
                  <a:cubicBezTo>
                    <a:pt x="44" y="241"/>
                    <a:pt x="70" y="181"/>
                    <a:pt x="111" y="134"/>
                  </a:cubicBezTo>
                  <a:close/>
                  <a:moveTo>
                    <a:pt x="42" y="328"/>
                  </a:moveTo>
                  <a:cubicBezTo>
                    <a:pt x="165" y="328"/>
                    <a:pt x="165" y="328"/>
                    <a:pt x="165" y="328"/>
                  </a:cubicBezTo>
                  <a:cubicBezTo>
                    <a:pt x="166" y="381"/>
                    <a:pt x="177" y="430"/>
                    <a:pt x="195" y="475"/>
                  </a:cubicBezTo>
                  <a:cubicBezTo>
                    <a:pt x="169" y="485"/>
                    <a:pt x="145" y="498"/>
                    <a:pt x="123" y="514"/>
                  </a:cubicBezTo>
                  <a:cubicBezTo>
                    <a:pt x="75" y="466"/>
                    <a:pt x="44" y="401"/>
                    <a:pt x="42" y="328"/>
                  </a:cubicBezTo>
                  <a:close/>
                  <a:moveTo>
                    <a:pt x="513" y="514"/>
                  </a:moveTo>
                  <a:cubicBezTo>
                    <a:pt x="491" y="498"/>
                    <a:pt x="467" y="485"/>
                    <a:pt x="441" y="475"/>
                  </a:cubicBezTo>
                  <a:cubicBezTo>
                    <a:pt x="459" y="430"/>
                    <a:pt x="470" y="381"/>
                    <a:pt x="471" y="328"/>
                  </a:cubicBezTo>
                  <a:cubicBezTo>
                    <a:pt x="594" y="328"/>
                    <a:pt x="594" y="328"/>
                    <a:pt x="594" y="328"/>
                  </a:cubicBezTo>
                  <a:cubicBezTo>
                    <a:pt x="592" y="401"/>
                    <a:pt x="561" y="466"/>
                    <a:pt x="513" y="514"/>
                  </a:cubicBezTo>
                  <a:close/>
                </a:path>
              </a:pathLst>
            </a:custGeom>
            <a:solidFill>
              <a:schemeClr val="bg1">
                <a:lumMod val="50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id-ID" dirty="0">
                <a:latin typeface="Lato Light"/>
              </a:endParaRPr>
            </a:p>
          </p:txBody>
        </p:sp>
      </p:grp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Светлая тема — для кабинета при обычном освещении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Тёмная тема — снимки контрастнее в затемнённом кабинете; переключение одной кнопкой</a:t>
            </a:r>
            <a:endParaRPr lang="ru-RU">
              <a:solidFill>
                <a:schemeClr val="tx1"/>
              </a:solidFill>
            </a:endParaRPr>
          </a:p>
        </p:txBody>
      </p:sp>
      <p:pic>
        <p:nvPicPr>
          <p:cNvPr id="5" name="Рисунок 4" descr="c_light_main.png"/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/>
          <a:stretch>
            <a:fillRect/>
          </a:stretch>
        </p:blipFill>
        <p:spPr/>
      </p:pic>
      <p:pic>
        <p:nvPicPr>
          <p:cNvPr id="6" name="Рисунок 5" descr="c_dark_main.png"/>
          <p:cNvPicPr>
            <a:picLocks noGrp="1" noChangeAspect="1"/>
          </p:cNvPicPr>
          <p:nvPr>
            <p:ph type="pic" sz="quarter" idx="18"/>
          </p:nvPr>
        </p:nvPicPr>
        <p:blipFill>
          <a:blip r:embed="rId4"/>
          <a:srcRect/>
          <a:stretch>
            <a:fillRect/>
          </a:stretch>
        </p:blipFill>
        <p:spPr/>
      </p:pic>
      <p:sp>
        <p:nvSpPr>
          <p:cNvPr id="55" name="Заголовок 13">
            <a:extLst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СВЕТЛАЯ И ТЁМНАЯ ТЕМА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Скругленный прямоугольник 13">
            <a:extLst>
              <a:ext uri="{FF2B5EF4-FFF2-40B4-BE49-F238E27FC236}">
                <a16:creationId xmlns:a16="http://schemas.microsoft.com/office/drawing/2014/main" id="{5DECC81F-B9A0-B672-D696-81D562A2CC6C}"/>
              </a:ext>
            </a:extLst>
          </p:cNvPr>
          <p:cNvSpPr/>
          <p:nvPr/>
        </p:nvSpPr>
        <p:spPr>
          <a:xfrm>
            <a:off x="6286500" y="4747188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17326B78-1050-D91F-CB0B-77E7C3BDEBD1}"/>
              </a:ext>
            </a:extLst>
          </p:cNvPr>
          <p:cNvSpPr/>
          <p:nvPr/>
        </p:nvSpPr>
        <p:spPr>
          <a:xfrm>
            <a:off x="6286500" y="2832356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61423B79-9F6C-052D-974E-E9A0E0B7ABDB}"/>
              </a:ext>
            </a:extLst>
          </p:cNvPr>
          <p:cNvSpPr/>
          <p:nvPr/>
        </p:nvSpPr>
        <p:spPr>
          <a:xfrm>
            <a:off x="6286500" y="917525"/>
            <a:ext cx="5570538" cy="1666934"/>
          </a:xfrm>
          <a:prstGeom prst="roundRect">
            <a:avLst>
              <a:gd name="adj" fmla="val 877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51D59BC6-8004-F870-CECE-1C4FFB06B7FB}"/>
              </a:ext>
            </a:extLst>
          </p:cNvPr>
          <p:cNvSpPr/>
          <p:nvPr/>
        </p:nvSpPr>
        <p:spPr>
          <a:xfrm>
            <a:off x="346075" y="324562"/>
            <a:ext cx="506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05B0424-AA26-4EA9-832B-906AB779F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21</a:t>
            </a:fld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E8A120-196C-48DC-AA16-CD22F43B911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91637" y="1049727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499 снимков · 0 ошибок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5D0CB6-043A-4E83-8D3D-7E7E9E2705E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591637" y="1649793"/>
            <a:ext cx="4790314" cy="779602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Весь обучающий набор организатора: 100 исследований, каждый файл обработан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56D5B0-F375-49C6-A314-52E6BED10C4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91637" y="2915797"/>
            <a:ext cx="4790314" cy="563519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329 без нарушений · 170 с ними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3191D1F3-2ADD-4DEE-A9D0-1FBBB99393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591637" y="3515862"/>
            <a:ext cx="4790314" cy="869021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На диаграмме — сколько раз найдено каждое нарушение (у снимка может быть несколько)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7602292-3E6F-4E28-8A49-D2719D16F85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591637" y="4871732"/>
            <a:ext cx="4790314" cy="597810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4 мин 18 с на весь набор</a:t>
            </a:r>
            <a:endParaRPr lang="ru-RU" b="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AE625499-96AD-46EA-8CE7-5765B615D23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591637" y="5471798"/>
            <a:ext cx="4790314" cy="848014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~0,5 с на снимок на CPU при лимите ТЗ 3 минуты на исследование</a:t>
            </a:r>
            <a:endParaRPr lang="ru-RU" dirty="0">
              <a:solidFill>
                <a:schemeClr val="tx1"/>
              </a:solidFill>
            </a:endParaRPr>
          </a:p>
        </p:txBody>
      </p:sp>
      <p:graphicFrame>
        <p:nvGraphicFramePr>
          <p:cNvPr id="10" name="Диаграмма 9">
            <a:extLst>
              <a:ext uri="{FF2B5EF4-FFF2-40B4-BE49-F238E27FC236}">
                <a16:creationId xmlns:a16="http://schemas.microsoft.com/office/drawing/2014/main" id="{E658358F-6A3F-4E56-8E2C-0059A594AB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45485138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Заголовок 13">
            <a:extLst>
              <a:ext uri="{FF2B5EF4-FFF2-40B4-BE49-F238E27FC236}">
                <a16:creationId xmlns:a16="http://schemas.microsoft.com/office/drawing/2014/main" id="{CE48B21B-C4B8-5F03-1C12-E4E9E2035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5200000" cy="376138"/>
          </a:xfrm>
        </p:spPr>
        <p:txBody>
          <a:bodyPr/>
          <a:lstStyle/>
          <a:p>
            <a:r>
              <a:t>ПРОГОН НА 499 СНИМКАХ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132313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389C504C-C673-685A-ED35-3E688A842675}"/>
              </a:ext>
            </a:extLst>
          </p:cNvPr>
          <p:cNvSpPr/>
          <p:nvPr/>
        </p:nvSpPr>
        <p:spPr>
          <a:xfrm>
            <a:off x="346075" y="324562"/>
            <a:ext cx="611000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2D779828-50AA-424E-9D75-E4AA39DF20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22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80582B6-28AC-45F4-BD2D-467E652DBD3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755267" y="1343263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Посторонние предметы — 0,88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F82DF7C-A3AD-43CF-A10D-0B36529054B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55267" y="1722800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Металл и импланты в поле позвоночника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958F12B-018B-418A-A49D-1D36B842AE9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755267" y="2611824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Позвоночник, итог — 0,86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57CEBFD9-BA50-4FE2-AEDF-186C2F4D3DA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755267" y="2991361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Чувствительность 0,80, специфичность 0,78</a:t>
            </a:r>
            <a:endParaRPr lang="ru-RU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932AF062-A059-495E-BB70-46D2DA99A1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755267" y="3880385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t>ROI бедра — 0,79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2FC86C2-74E3-4069-A985-340E87E70F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755267" y="4259922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Размеры поля и отступы кости в мм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1D835328-9C3F-4BAA-A363-BCF05AE9CAA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755267" y="5148947"/>
            <a:ext cx="4790314" cy="1021701"/>
          </a:xfrm>
          <a:prstGeom prst="roundRect">
            <a:avLst>
              <a:gd name="adj" fmla="val 0"/>
            </a:avLst>
          </a:prstGeom>
          <a:noFill/>
        </p:spPr>
        <p:txBody>
          <a:bodyPr/>
          <a:lstStyle/>
          <a:p>
            <a:r>
              <a:rPr>
                <a:solidFill>
                  <a:srgbClr val="FC3777"/>
                </a:solidFill>
              </a:rPr>
              <a:t>Бедро, итог — 0,73</a:t>
            </a:r>
            <a:endParaRPr lang="ru-RU" b="0" dirty="0">
              <a:solidFill>
                <a:schemeClr val="accent5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F3516B2-5C9F-4B2E-B489-4C7C76EB80F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755267" y="5528484"/>
            <a:ext cx="4790314" cy="642164"/>
          </a:xfrm>
        </p:spPr>
        <p:txBody>
          <a:bodyPr/>
          <a:lstStyle/>
          <a:p>
            <a:pPr marL="0" indent="0">
              <a:buNone/>
            </a:pPr>
            <a:r>
              <a:rPr sz="1300" b="0">
                <a:solidFill>
                  <a:srgbClr val="1C1D22"/>
                </a:solidFill>
              </a:rPr>
              <a:t>Упирается в данные: шумная разметка укладки</a:t>
            </a:r>
            <a:endParaRPr lang="ru-RU">
              <a:solidFill>
                <a:schemeClr val="accent5"/>
              </a:solidFill>
            </a:endParaRPr>
          </a:p>
        </p:txBody>
      </p:sp>
      <p:graphicFrame>
        <p:nvGraphicFramePr>
          <p:cNvPr id="12" name="Диаграмма 11">
            <a:extLst>
              <a:ext uri="{FF2B5EF4-FFF2-40B4-BE49-F238E27FC236}">
                <a16:creationId xmlns:a16="http://schemas.microsoft.com/office/drawing/2014/main" id="{23BDA4A7-21AE-4EEC-8367-DB38D1BA312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1416834"/>
              </p:ext>
            </p:extLst>
          </p:nvPr>
        </p:nvGraphicFramePr>
        <p:xfrm>
          <a:off x="346075" y="1424510"/>
          <a:ext cx="5749925" cy="44017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9CDF69C9-489B-D478-1908-E63FA3502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КАЧЕСТВО МОДЕЛЕЙ (ROC-AUC)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99786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311182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/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/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/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/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3887" y="1732103"/>
            <a:ext cx="4734175" cy="4139307"/>
          </a:xfrm>
          <a:noFill/>
          <a:ln>
            <a:noFill/>
          </a:ln>
        </p:spPr>
        <p:txBody>
          <a:bodyPr>
            <a:normAutofit/>
          </a:bodyPr>
          <a:lstStyle/>
          <a:p>
            <a:pPr algn="l"/>
            <a:r>
              <a:rPr sz="1400">
                <a:solidFill>
                  <a:srgbClr val="1C1D22"/>
                </a:solidFill>
              </a:rPr>
              <a:t>Backend: Python 3.11, FastAPI, PyTorch, pydicom, scikit-learn; очередь задач и лимиты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Frontend: React + TypeScript, светлая и тёмная темы, nginx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ML: замороженные бэкбоны + линейные головы; веса в safetensors/npz, сверка sha256</a:t>
            </a:r>
            <a:endParaRPr lang="ru-RU" sz="3600" b="1">
              <a:solidFill>
                <a:schemeClr val="tx1"/>
              </a:solidFill>
            </a:endParaRPr>
          </a:p>
          <a:p>
            <a:pPr algn="l"/>
            <a:r>
              <a:rPr sz="1400">
                <a:solidFill>
                  <a:srgbClr val="1C1D22"/>
                </a:solidFill>
              </a:rPr>
              <a:t>Поставка: Docker Compose, CPU- и GPU-образы, запуск одной командой, пакетный режим без сети</a:t>
            </a:r>
            <a:endParaRPr lang="ru-RU"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445505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~0,5 с на снимок на CPU при лимите ТЗ 3 минуты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247287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Минимум 4 ядра и 4 ГБ RAM, GPU не обязателен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72730" y="3485922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Отчёт по ТЗ: XLSX/CSV, журнал ошибок, DICOM SR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72730" y="4496593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315 тестов backend, 23 теста frontend, CI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72730" y="5516924"/>
            <a:ext cx="5460470" cy="600112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Групповая кросс-валидация 20×5 и bootstrap-ДИ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t>ТЕХНОЛОГИИ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62BB59-6E27-43D2-BF3A-1879F75EA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/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/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/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780565" y="2493074"/>
            <a:ext cx="2965634" cy="423628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Без интернета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80565" y="3128740"/>
            <a:ext cx="2965633" cy="2797928"/>
          </a:xfrm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Backend во внутренней сети Docker без выхода наружу. Проверка в режиме --network none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4623178" y="2493074"/>
            <a:ext cx="3034896" cy="403756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Защита данных</a:t>
            </a:r>
            <a:endParaRPr lang="ru-RU" sz="1800" dirty="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4623178" y="3128740"/>
            <a:ext cx="3034896" cy="2797928"/>
          </a:xfrm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Файлы удаляются через 24 ч, ответы не кэшируются, вход по паролю, журнал аудита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547959" y="2493074"/>
            <a:ext cx="2945464" cy="403913"/>
          </a:xfrm>
        </p:spPr>
        <p:txBody>
          <a:bodyPr/>
          <a:lstStyle/>
          <a:p>
            <a:pPr marL="0" indent="0">
              <a:buNone/>
            </a:pPr>
            <a:r>
              <a:rPr sz="1600" b="1">
                <a:solidFill>
                  <a:srgbClr val="520977"/>
                </a:solidFill>
              </a:rPr>
              <a:t>Аудит кода</a:t>
            </a:r>
            <a:endParaRPr lang="ru-RU"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547959" y="3128740"/>
            <a:ext cx="2945464" cy="2797928"/>
          </a:xfrm>
        </p:spPr>
        <p:txBody>
          <a:bodyPr/>
          <a:lstStyle/>
          <a:p>
            <a:pPr marL="0" indent="0">
              <a:buNone/>
            </a:pPr>
            <a:r>
              <a:rPr sz="1400" b="0">
                <a:solidFill>
                  <a:srgbClr val="1C1D22"/>
                </a:solidFill>
              </a:rPr>
              <a:t>OWASP API Top 10 и CIS Docker: Semgrep, trivy, bandit, gitleaks — 0 находок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БЕЗОПАСНОСТЬ И АВТОНОМНОСТЬ</a:t>
            </a:r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780565" y="1772415"/>
            <a:ext cx="1311031" cy="601141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01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4615219" y="1766200"/>
            <a:ext cx="1311031" cy="572942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02</a:t>
            </a:r>
            <a:endParaRPr lang="ru-RU" sz="4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8547959" y="1766043"/>
            <a:ext cx="1311031" cy="573165"/>
          </a:xfrm>
        </p:spPr>
        <p:txBody>
          <a:bodyPr/>
          <a:lstStyle/>
          <a:p>
            <a:pPr marL="0" indent="0">
              <a:buNone/>
            </a:pPr>
            <a:r>
              <a:rPr sz="2800" b="0">
                <a:solidFill>
                  <a:srgbClr val="FF0053"/>
                </a:solidFill>
              </a:rPr>
              <a:t>03</a:t>
            </a:r>
            <a:endParaRPr lang="ru-RU" sz="4400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888" y="1556279"/>
            <a:ext cx="10789619" cy="3745441"/>
          </a:xfrm>
        </p:spPr>
        <p:txBody>
          <a:bodyPr/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Для кого: кабинеты денситометрии — рентгенолаборант получает вердикт сразу после снимка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Эффект: брак исправляется, пока пациент в кабинете, — меньше повторных визитов и недостоверных заключений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Врач-рентгенолог не тратит время на снимки, которые всё равно придётся переснять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Решение за специалистом: сервис подсказывает коррекцию, врач подтверждает или исправляет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Внедрение: в закрытом контуре на обычном сервере или рабочей станции, без облака</a:t>
            </a:r>
            <a:endParaRPr lang="ru-RU" dirty="0">
              <a:solidFill>
                <a:schemeClr val="tx1"/>
              </a:solidFill>
            </a:endParaRP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1C1D22"/>
                </a:solidFill>
              </a:rPr>
              <a:t>Масштаб: пакетный аудит качества по учреждению и сети медорганизаций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5994696" cy="552061"/>
          </a:xfrm>
        </p:spPr>
        <p:txBody>
          <a:bodyPr/>
          <a:lstStyle/>
          <a:p>
            <a:r>
              <a:t>ЦЕННОСТЬ И ВНЕДРЕНИЕ</a:t>
            </a:r>
            <a:endParaRPr lang="ru-RU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0664B9-F30D-B51A-EC08-2389E212D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90" y="370426"/>
            <a:ext cx="5562510" cy="442374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ПЛАН РАЗВИТИЯ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1133" y="1695025"/>
            <a:ext cx="11000000" cy="712587"/>
          </a:xfrm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FF0053"/>
                </a:solidFill>
              </a:rPr>
              <a:t>01   </a:t>
            </a:r>
            <a:r>
              <a:rPr sz="1500" b="0">
                <a:solidFill>
                  <a:srgbClr val="1C1D22"/>
                </a:solidFill>
              </a:rPr>
              <a:t>Интеграция с PACS/РИС: снимки приходят со сканера по DICOM автоматически, без ручной загрузки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21133" y="2552035"/>
            <a:ext cx="11000000" cy="712587"/>
          </a:xfrm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FF0053"/>
                </a:solidFill>
              </a:rPr>
              <a:t>02   </a:t>
            </a:r>
            <a:r>
              <a:rPr sz="1500" b="0">
                <a:solidFill>
                  <a:srgbClr val="1C1D22"/>
                </a:solidFill>
              </a:rPr>
              <a:t>Второй эксперт и ориентиры малого вертела и Th12 — точнее укладка и область интереса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133" y="3409044"/>
            <a:ext cx="11000000" cy="712587"/>
          </a:xfrm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FF0053"/>
                </a:solidFill>
              </a:rPr>
              <a:t>03   </a:t>
            </a:r>
            <a:r>
              <a:rPr sz="1500" b="0">
                <a:solidFill>
                  <a:srgbClr val="1C1D22"/>
                </a:solidFill>
              </a:rPr>
              <a:t>Распознавание эндопротезов с металлом, который сканер маскирует тёмным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1133" y="4266053"/>
            <a:ext cx="11000000" cy="712587"/>
          </a:xfrm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FF0053"/>
                </a:solidFill>
              </a:rPr>
              <a:t>04   </a:t>
            </a:r>
            <a:r>
              <a:rPr sz="1500" b="0">
                <a:solidFill>
                  <a:srgbClr val="1C1D22"/>
                </a:solidFill>
              </a:rPr>
              <a:t>Аналитика качества по аппаратам и сменам: дашборд для заведующего отделением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21133" y="5123063"/>
            <a:ext cx="11000000" cy="712587"/>
          </a:xfrm>
        </p:spPr>
        <p:txBody>
          <a:bodyPr/>
          <a:lstStyle/>
          <a:p>
            <a:pPr marL="0" indent="0">
              <a:buNone/>
            </a:pPr>
            <a:r>
              <a:rPr sz="1500" b="1">
                <a:solidFill>
                  <a:srgbClr val="FF0053"/>
                </a:solidFill>
              </a:rPr>
              <a:t>05   </a:t>
            </a:r>
            <a:r>
              <a:rPr sz="1500" b="0">
                <a:solidFill>
                  <a:srgbClr val="1C1D22"/>
                </a:solidFill>
              </a:rPr>
              <a:t>Клиническая апробация и регистрация как медицинского изделия</a:t>
            </a:r>
            <a:endParaRPr lang="ru-RU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441475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15</a:t>
            </a:fld>
            <a:endParaRPr lang="ru-RU" dirty="0">
              <a:solidFill>
                <a:schemeClr val="accent5"/>
              </a:solidFill>
            </a:endParaRPr>
          </a:p>
        </p:txBody>
      </p:sp>
      <p:cxnSp>
        <p:nvCxnSpPr>
          <p:cNvPr id="2" name="Прямая соединительная линия 1">
            <a:extLst>
              <a:ext uri="{FF2B5EF4-FFF2-40B4-BE49-F238E27FC236}">
                <a16:creationId xmlns:a16="http://schemas.microsoft.com/office/drawing/2014/main" id="{C40756DD-053E-22C9-6492-BAE6C92C555E}"/>
              </a:ext>
            </a:extLst>
          </p:cNvPr>
          <p:cNvCxnSpPr>
            <a:cxnSpLocks/>
          </p:cNvCxnSpPr>
          <p:nvPr/>
        </p:nvCxnSpPr>
        <p:spPr>
          <a:xfrm>
            <a:off x="521133" y="1604660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00DEE536-8C7E-5FF9-89E1-82A9988D844D}"/>
              </a:ext>
            </a:extLst>
          </p:cNvPr>
          <p:cNvCxnSpPr>
            <a:cxnSpLocks/>
          </p:cNvCxnSpPr>
          <p:nvPr/>
        </p:nvCxnSpPr>
        <p:spPr>
          <a:xfrm>
            <a:off x="521133" y="246553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7E52340B-BDE2-4108-BF09-DF1807F1208F}"/>
              </a:ext>
            </a:extLst>
          </p:cNvPr>
          <p:cNvCxnSpPr>
            <a:cxnSpLocks/>
          </p:cNvCxnSpPr>
          <p:nvPr/>
        </p:nvCxnSpPr>
        <p:spPr>
          <a:xfrm>
            <a:off x="521133" y="334286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9D24F87D-A790-746E-F6AE-485B863A9B3E}"/>
              </a:ext>
            </a:extLst>
          </p:cNvPr>
          <p:cNvCxnSpPr>
            <a:cxnSpLocks/>
          </p:cNvCxnSpPr>
          <p:nvPr/>
        </p:nvCxnSpPr>
        <p:spPr>
          <a:xfrm>
            <a:off x="521133" y="4183125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319081A8-2E23-9ED5-DAF3-7F8B5653DD5D}"/>
              </a:ext>
            </a:extLst>
          </p:cNvPr>
          <p:cNvCxnSpPr>
            <a:cxnSpLocks/>
          </p:cNvCxnSpPr>
          <p:nvPr/>
        </p:nvCxnSpPr>
        <p:spPr>
          <a:xfrm>
            <a:off x="521133" y="5048098"/>
            <a:ext cx="11335905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7936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</a:pPr>
            <a:r>
              <a:rPr sz="1800" b="1">
                <a:solidFill>
                  <a:srgbClr val="1C1D22"/>
                </a:solidFill>
              </a:rPr>
              <a:t>Команда «Киберпсихоз»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800">
                <a:solidFill>
                  <a:srgbClr val="1C1D22"/>
                </a:solidFill>
              </a:rPr>
              <a:t>Лилия Семененко — капитан, DevOps, бэкенд, ML</a:t>
            </a:r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sz="1800">
                <a:solidFill>
                  <a:srgbClr val="1C1D22"/>
                </a:solidFill>
              </a:rPr>
              <a:t>Олег Витютнев — full-stack, фронтенд, дизайн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>
                <a:solidFill>
                  <a:srgbClr val="520977"/>
                </a:solidFill>
              </a:rPr>
              <a:t>СПАСИБО ЗА ВНИМАНИЕ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